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7519de75-94fa-ecc9-6bee-475e3d2b6cd7}">
          <p14:sldIdLst>
            <p14:sldId id="256"/>
            <p14:sldId id="257"/>
            <p14:sldId id="258"/>
            <p14:sldId id="259"/>
          </p14:sldIdLst>
        </p14:section>
        <p14:section name="準備" id="{5435d355-a718-dff0-3c2b-362b7e4c1922}">
          <p14:sldIdLst>
            <p14:sldId id="260"/>
            <p14:sldId id="261"/>
            <p14:sldId id="262"/>
          </p14:sldIdLst>
        </p14:section>
        <p14:section name="毎日の使い方" id="{ec5b196d-d3d3-d401-e116-fbf4638a70b4}">
          <p14:sldIdLst>
            <p14:sldId id="263"/>
            <p14:sldId id="264"/>
            <p14:sldId id="265"/>
          </p14:sldIdLst>
        </p14:section>
        <p14:section name="メール" id="{77471a7c-d28b-0783-74ba-8d45f3d2f158}">
          <p14:sldIdLst>
            <p14:sldId id="266"/>
            <p14:sldId id="267"/>
          </p14:sldIdLst>
        </p14:section>
        <p14:section name="印刷と掲示" id="{51024399-8b45-2982-4e97-bb3d0a14fd7d}">
          <p14:sldIdLst>
            <p14:sldId id="268"/>
            <p14:sldId id="269"/>
            <p14:sldId id="270"/>
            <p14:sldId id="271"/>
          </p14:sldIdLst>
        </p14:section>
        <p14:section name="データと困ったとき" id="{058128a1-5a38-c2bc-a223-6a91dc3b50c6}">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提出物チェッカーの使い方を、すべての機能について説明します。提出物を受け取ったら、その生徒の番号を押していきます。押されずに残った番号が、まだ出していない生徒なので、未提出の生徒がすぐに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できることは8つです。記録するのは「出したか、まだか」だけで、評価や点数を書く欄はありません。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画面の上に6つのメニューがあります。右上の「保存済み」は、入力がスプレッドシートに保存されたことを示します。「最新に更新」は、ほかの端末で入力した内容を読み込むボタンです。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られたURLを、学校のアカウントで開きます。初回だけ許可の画面が出るので「許可」を押してください。開けないときは、複数のアカウントでログインしていることが多いので、シークレットウィンドウを使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最初に、受け持つクラスを登録します。名前やメールアドレスは入れなくても使えます。入れるかどうかは学校のルールに合わせてください。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メールで知らせる機能を使う場合は、生徒のGoogleアカウントのメールアドレスを登録します。いちばん大事なのは、行の位置が出席番号になることです。欠番がある場合は、その行を空けてください。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まずは今日集める提出物を一つだけ登録してみてください。必須なのは提出物名と対象クラスだけです。削除すると、その提出物のチェック記録も消えるので注意してください。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一冊受け取って、一つ押す。これだけです。冊数が多いときはパソコンで「番号で入力」を使うと、マウスを動かさずに続けて入力できます。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回収状況では、提出物とクラスごとの状況がカードで並びます。色で、今どこを見ればよいかが分かります。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提出物ごとに表を見なくても、同じ生徒が出していないものが一か所にまとまります。一度の声かけで済みます。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メールは先生のGmailから、生徒一人ひとりに別々に送られます。ほかの生徒の情報は入りません。1時間以内に同じクラスへ送ろうとすると注意が出ます。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事情があって提出できない生徒に催促のメールが届かないよう、外すことができます。外しても、声かけビューや印刷の一覧にはこれまでどおり表示されます。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手紙の文面はメールと同じです。メールが届く生徒にはメール、届かない生徒には手紙、という使い分けができます。印刷を押すと、対象の生徒全員分が1人1ページずつ印刷されます。PDFに保存もできます。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紙で掲示したい場合や、手書きでチェックしたい場合に使います。掲示はClassroomのリンクでもできます（次のスライド）。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これまで印刷して教室に貼っていた一覧を、リンクで共有できます。チェックするたびに自動で更新されます。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生徒はClassroomのリンクから、自分のクラスの提出状況を見ます。空欄は「まだ確認できていない」という意味です。行き違いで提出済みの場合は、先生に声をかけるよう伝えてください。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右上の「保存済み」が出ていれば、入力はスプレッドシートに保存されています。大事な時期の前には、バックアップを保存しておくと安心です。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よくある質問です。分からないことがあれば、アプリの中の「使い方」画面も見てください。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このスライドは、アプリを配布・管理している先生向けです。ほかの先生は読み飛ばしてかまいません。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登録する、チェックする、残っている番号を見て伝える。毎日の回収確認は、この流れだけです。まずは提出物を一つ登録して試してみてください。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585216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566160"/>
            <a:ext cx="5943600" cy="1463040"/>
          </a:xfrm>
          <a:prstGeom prst="rect">
            <a:avLst/>
          </a:prstGeom>
          <a:noFill/>
          <a:ln/>
        </p:spPr>
        <p:txBody>
          <a:bodyPr wrap="square" rtlCol="0"/>
          <a:lstStyle>
            <a:lvl1pPr algn="l" indent="0" marL="0">
              <a:buNone/>
              <a:defRPr lang="en-US" sz="1700" dirty="0">
                <a:solidFill>
                  <a:schemeClr val="bg2"/>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提出物チェッカー 使い方ガイド</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5852160" cy="1828800"/>
          </a:xfrm>
          <a:prstGeom prst="rect">
            <a:avLst/>
          </a:prstGeom>
          <a:noFill/>
          <a:ln/>
        </p:spPr>
        <p:txBody>
          <a:bodyPr wrap="square" lIns="0" tIns="0" rIns="0" bIns="0" rtlCol="0" anchor="b"/>
          <a:lstStyle/>
          <a:p>
            <a:pPr algn="l" indent="0" marL="0">
              <a:buNone/>
            </a:pPr>
            <a:r>
              <a:rPr lang="en-US" sz="4000" b="1" dirty="0">
                <a:solidFill>
                  <a:schemeClr val="bg1"/>
                </a:solidFill>
              </a:rPr>
              <a:t>提出物チェッカー</a:t>
            </a:r>
            <a:endParaRPr lang="en-US" sz="4000" dirty="0"/>
          </a:p>
          <a:p>
            <a:pPr algn="l" indent="0" marL="0">
              <a:buNone/>
            </a:pPr>
            <a:r>
              <a:rPr lang="en-US" sz="4000" b="1" dirty="0">
                <a:solidFill>
                  <a:schemeClr val="bg1"/>
                </a:solidFill>
              </a:rPr>
              <a:t>使い方ガイド</a:t>
            </a:r>
            <a:endParaRPr lang="en-US" sz="4000" dirty="0"/>
          </a:p>
        </p:txBody>
      </p:sp>
      <p:sp>
        <p:nvSpPr>
          <p:cNvPr id="3" name="Text 0"/>
          <p:cNvSpPr/>
          <p:nvPr>
            <p:ph idx="101" type="body" hasCustomPrompt="1"/>
          </p:nvPr>
        </p:nvSpPr>
        <p:spPr>
          <a:xfrm>
            <a:off x="640080" y="3566160"/>
            <a:ext cx="5943600" cy="1463040"/>
          </a:xfrm>
          <a:prstGeom prst="rect">
            <a:avLst/>
          </a:prstGeom>
          <a:noFill/>
          <a:ln/>
        </p:spPr>
        <p:txBody>
          <a:bodyPr wrap="square" lIns="0" tIns="0" rIns="0" bIns="0" rtlCol="0" anchor="t"/>
          <a:lstStyle/>
          <a:p>
            <a:pPr algn="l" indent="0" marL="0">
              <a:buNone/>
            </a:pPr>
            <a:r>
              <a:rPr lang="en-US" sz="1700" dirty="0">
                <a:solidFill>
                  <a:schemeClr val="bg2"/>
                </a:solidFill>
              </a:rPr>
              <a:t>提出物を受け取ったら、その生徒の番号を押すだけ。</a:t>
            </a:r>
            <a:endParaRPr lang="en-US" sz="1700" dirty="0"/>
          </a:p>
          <a:p>
            <a:pPr algn="l" indent="0" marL="0">
              <a:buNone/>
            </a:pPr>
            <a:r>
              <a:rPr lang="en-US" sz="1700" dirty="0">
                <a:solidFill>
                  <a:schemeClr val="bg2"/>
                </a:solidFill>
              </a:rPr>
              <a:t>押されずに残った番号が、まだ出していない生徒です。</a:t>
            </a:r>
            <a:endParaRPr lang="en-US" sz="1700" dirty="0"/>
          </a:p>
        </p:txBody>
      </p:sp>
      <p:sp>
        <p:nvSpPr>
          <p:cNvPr id="4" name="Text 2"/>
          <p:cNvSpPr txBox="1"/>
          <p:nvPr/>
        </p:nvSpPr>
        <p:spPr>
          <a:xfrm>
            <a:off x="640080" y="5303520"/>
            <a:ext cx="4572000" cy="365760"/>
          </a:xfrm>
          <a:prstGeom prst="rect">
            <a:avLst/>
          </a:prstGeom>
          <a:noFill/>
          <a:ln/>
        </p:spPr>
        <p:txBody>
          <a:bodyPr wrap="square" lIns="0" tIns="0" rIns="0" bIns="0" rtlCol="0" anchor="ctr"/>
          <a:lstStyle/>
          <a:p>
            <a:pPr indent="0" marL="0">
              <a:buNone/>
            </a:pPr>
            <a:r>
              <a:rPr lang="en-US" sz="1400" dirty="0">
                <a:solidFill>
                  <a:schemeClr val="bg2"/>
                </a:solidFill>
              </a:rPr>
              <a:t>校内の先生向け（全機能版）</a:t>
            </a:r>
            <a:endParaRPr lang="en-US" sz="1400" dirty="0"/>
          </a:p>
        </p:txBody>
      </p:sp>
      <p:sp>
        <p:nvSpPr>
          <p:cNvPr id="5" name="画面の枠-1"/>
          <p:cNvSpPr/>
          <p:nvPr/>
        </p:nvSpPr>
        <p:spPr>
          <a:xfrm>
            <a:off x="6693408" y="1481328"/>
            <a:ext cx="5084064" cy="3039523"/>
          </a:xfrm>
          <a:prstGeom prst="roundRect">
            <a:avLst>
              <a:gd name="adj" fmla="val 2407"/>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6" name="画面-2" descr="shots2/status.png">    </p:cNvPr>
          <p:cNvPicPr>
            <a:picLocks noChangeAspect="1"/>
          </p:cNvPicPr>
          <p:nvPr/>
        </p:nvPicPr>
        <p:blipFill>
          <a:blip r:embed="rId1"/>
          <a:stretch>
            <a:fillRect/>
          </a:stretch>
        </p:blipFill>
        <p:spPr>
          <a:xfrm>
            <a:off x="6766560" y="1554480"/>
            <a:ext cx="4937760" cy="28932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このアプリでできること</a:t>
            </a:r>
            <a:endParaRPr lang="en-US" sz="3000" dirty="0"/>
          </a:p>
        </p:txBody>
      </p:sp>
      <p:sp>
        <p:nvSpPr>
          <p:cNvPr id="3" name="カード-3"/>
          <p:cNvSpPr/>
          <p:nvPr/>
        </p:nvSpPr>
        <p:spPr>
          <a:xfrm>
            <a:off x="548640" y="1463040"/>
            <a:ext cx="2624328" cy="2148840"/>
          </a:xfrm>
          <a:prstGeom prst="roundRect">
            <a:avLst>
              <a:gd name="adj" fmla="val 5106"/>
            </a:avLst>
          </a:prstGeom>
          <a:solidFill>
            <a:schemeClr val="bg2"/>
          </a:solidFill>
          <a:ln w="12700">
            <a:solidFill>
              <a:schemeClr val="bg2"/>
            </a:solidFill>
            <a:prstDash val="solid"/>
          </a:ln>
        </p:spPr>
      </p:sp>
      <p:sp>
        <p:nvSpPr>
          <p:cNvPr id="4" name="アイコンの円-4"/>
          <p:cNvSpPr/>
          <p:nvPr/>
        </p:nvSpPr>
        <p:spPr>
          <a:xfrm>
            <a:off x="777240" y="1691640"/>
            <a:ext cx="594360" cy="594360"/>
          </a:xfrm>
          <a:prstGeom prst="ellipse">
            <a:avLst/>
          </a:prstGeom>
          <a:solidFill>
            <a:schemeClr val="accent1"/>
          </a:solidFill>
          <a:ln w="12700">
            <a:solidFill>
              <a:schemeClr val="accent1"/>
            </a:solidFill>
            <a:prstDash val="solid"/>
          </a:ln>
        </p:spPr>
      </p:sp>
      <p:pic>
        <p:nvPicPr>
          <p:cNvPr id="5" name="アイコン-5" descr="preencoded.png">    </p:cNvPr>
          <p:cNvPicPr>
            <a:picLocks noChangeAspect="1"/>
          </p:cNvPicPr>
          <p:nvPr/>
        </p:nvPicPr>
        <p:blipFill>
          <a:blip r:embed="rId1"/>
          <a:stretch>
            <a:fillRect/>
          </a:stretch>
        </p:blipFill>
        <p:spPr>
          <a:xfrm>
            <a:off x="925830" y="1840230"/>
            <a:ext cx="297180" cy="297180"/>
          </a:xfrm>
          <a:prstGeom prst="rect">
            <a:avLst/>
          </a:prstGeom>
        </p:spPr>
      </p:pic>
      <p:sp>
        <p:nvSpPr>
          <p:cNvPr id="6" name="Text 3"/>
          <p:cNvSpPr txBox="1"/>
          <p:nvPr/>
        </p:nvSpPr>
        <p:spPr>
          <a:xfrm>
            <a:off x="777240" y="2423160"/>
            <a:ext cx="2240280" cy="548640"/>
          </a:xfrm>
          <a:prstGeom prst="rect">
            <a:avLst/>
          </a:prstGeom>
          <a:noFill/>
          <a:ln/>
        </p:spPr>
        <p:txBody>
          <a:bodyPr wrap="square" lIns="0" tIns="0" rIns="0" bIns="0" rtlCol="0" anchor="t"/>
          <a:lstStyle/>
          <a:p>
            <a:pPr indent="0" marL="0">
              <a:buNone/>
            </a:pPr>
            <a:r>
              <a:rPr lang="en-US" sz="1500" b="1" dirty="0">
                <a:solidFill>
                  <a:schemeClr val="tx2"/>
                </a:solidFill>
              </a:rPr>
              <a:t>その場でチェック</a:t>
            </a:r>
            <a:endParaRPr lang="en-US" sz="1500" dirty="0"/>
          </a:p>
        </p:txBody>
      </p:sp>
      <p:sp>
        <p:nvSpPr>
          <p:cNvPr id="7" name="Text 4"/>
          <p:cNvSpPr txBox="1"/>
          <p:nvPr/>
        </p:nvSpPr>
        <p:spPr>
          <a:xfrm>
            <a:off x="777240" y="2971800"/>
            <a:ext cx="2240280" cy="548640"/>
          </a:xfrm>
          <a:prstGeom prst="rect">
            <a:avLst/>
          </a:prstGeom>
          <a:noFill/>
          <a:ln/>
        </p:spPr>
        <p:txBody>
          <a:bodyPr wrap="square" lIns="0" tIns="0" rIns="0" bIns="0" rtlCol="0" anchor="t"/>
          <a:lstStyle/>
          <a:p>
            <a:pPr indent="0" marL="0">
              <a:buNone/>
            </a:pPr>
            <a:r>
              <a:rPr lang="en-US" sz="1300" dirty="0">
                <a:solidFill>
                  <a:schemeClr val="tx1"/>
                </a:solidFill>
              </a:rPr>
              <a:t>番号のマスを押すだけ</a:t>
            </a:r>
            <a:endParaRPr lang="en-US" sz="1300" dirty="0"/>
          </a:p>
        </p:txBody>
      </p:sp>
      <p:sp>
        <p:nvSpPr>
          <p:cNvPr id="8" name="カード-6"/>
          <p:cNvSpPr/>
          <p:nvPr/>
        </p:nvSpPr>
        <p:spPr>
          <a:xfrm>
            <a:off x="3355848" y="1463040"/>
            <a:ext cx="2624328" cy="2148840"/>
          </a:xfrm>
          <a:prstGeom prst="roundRect">
            <a:avLst>
              <a:gd name="adj" fmla="val 5106"/>
            </a:avLst>
          </a:prstGeom>
          <a:solidFill>
            <a:schemeClr val="bg2"/>
          </a:solidFill>
          <a:ln w="12700">
            <a:solidFill>
              <a:schemeClr val="bg2"/>
            </a:solidFill>
            <a:prstDash val="solid"/>
          </a:ln>
        </p:spPr>
      </p:sp>
      <p:sp>
        <p:nvSpPr>
          <p:cNvPr id="9" name="アイコンの円-7"/>
          <p:cNvSpPr/>
          <p:nvPr/>
        </p:nvSpPr>
        <p:spPr>
          <a:xfrm>
            <a:off x="3584448" y="1691640"/>
            <a:ext cx="594360" cy="594360"/>
          </a:xfrm>
          <a:prstGeom prst="ellipse">
            <a:avLst/>
          </a:prstGeom>
          <a:solidFill>
            <a:schemeClr val="accent1"/>
          </a:solidFill>
          <a:ln w="12700">
            <a:solidFill>
              <a:schemeClr val="accent1"/>
            </a:solidFill>
            <a:prstDash val="solid"/>
          </a:ln>
        </p:spPr>
      </p:sp>
      <p:pic>
        <p:nvPicPr>
          <p:cNvPr id="10" name="アイコン-8" descr="preencoded.png">    </p:cNvPr>
          <p:cNvPicPr>
            <a:picLocks noChangeAspect="1"/>
          </p:cNvPicPr>
          <p:nvPr/>
        </p:nvPicPr>
        <p:blipFill>
          <a:blip r:embed="rId2"/>
          <a:stretch>
            <a:fillRect/>
          </a:stretch>
        </p:blipFill>
        <p:spPr>
          <a:xfrm>
            <a:off x="3733038" y="1840230"/>
            <a:ext cx="297180" cy="297180"/>
          </a:xfrm>
          <a:prstGeom prst="rect">
            <a:avLst/>
          </a:prstGeom>
        </p:spPr>
      </p:pic>
      <p:sp>
        <p:nvSpPr>
          <p:cNvPr id="11" name="Text 7"/>
          <p:cNvSpPr txBox="1"/>
          <p:nvPr/>
        </p:nvSpPr>
        <p:spPr>
          <a:xfrm>
            <a:off x="3584448" y="2423160"/>
            <a:ext cx="2240280" cy="548640"/>
          </a:xfrm>
          <a:prstGeom prst="rect">
            <a:avLst/>
          </a:prstGeom>
          <a:noFill/>
          <a:ln/>
        </p:spPr>
        <p:txBody>
          <a:bodyPr wrap="square" lIns="0" tIns="0" rIns="0" bIns="0" rtlCol="0" anchor="t"/>
          <a:lstStyle/>
          <a:p>
            <a:pPr indent="0" marL="0">
              <a:buNone/>
            </a:pPr>
            <a:r>
              <a:rPr lang="en-US" sz="1500" b="1" dirty="0">
                <a:solidFill>
                  <a:schemeClr val="tx2"/>
                </a:solidFill>
              </a:rPr>
              <a:t>未提出がすぐ分かる</a:t>
            </a:r>
            <a:endParaRPr lang="en-US" sz="1500" dirty="0"/>
          </a:p>
        </p:txBody>
      </p:sp>
      <p:sp>
        <p:nvSpPr>
          <p:cNvPr id="12" name="Text 8"/>
          <p:cNvSpPr txBox="1"/>
          <p:nvPr/>
        </p:nvSpPr>
        <p:spPr>
          <a:xfrm>
            <a:off x="3584448" y="2971800"/>
            <a:ext cx="2240280" cy="548640"/>
          </a:xfrm>
          <a:prstGeom prst="rect">
            <a:avLst/>
          </a:prstGeom>
          <a:noFill/>
          <a:ln/>
        </p:spPr>
        <p:txBody>
          <a:bodyPr wrap="square" lIns="0" tIns="0" rIns="0" bIns="0" rtlCol="0" anchor="t"/>
          <a:lstStyle/>
          <a:p>
            <a:pPr indent="0" marL="0">
              <a:buNone/>
            </a:pPr>
            <a:r>
              <a:rPr lang="en-US" sz="1300" dirty="0">
                <a:solidFill>
                  <a:schemeClr val="tx1"/>
                </a:solidFill>
              </a:rPr>
              <a:t>「3・7・12番」と残りを表示</a:t>
            </a:r>
            <a:endParaRPr lang="en-US" sz="1300" dirty="0"/>
          </a:p>
        </p:txBody>
      </p:sp>
      <p:sp>
        <p:nvSpPr>
          <p:cNvPr id="13" name="カード-9"/>
          <p:cNvSpPr/>
          <p:nvPr/>
        </p:nvSpPr>
        <p:spPr>
          <a:xfrm>
            <a:off x="6163056" y="1463040"/>
            <a:ext cx="2624328" cy="2148840"/>
          </a:xfrm>
          <a:prstGeom prst="roundRect">
            <a:avLst>
              <a:gd name="adj" fmla="val 5106"/>
            </a:avLst>
          </a:prstGeom>
          <a:solidFill>
            <a:schemeClr val="bg2"/>
          </a:solidFill>
          <a:ln w="12700">
            <a:solidFill>
              <a:schemeClr val="bg2"/>
            </a:solidFill>
            <a:prstDash val="solid"/>
          </a:ln>
        </p:spPr>
      </p:sp>
      <p:sp>
        <p:nvSpPr>
          <p:cNvPr id="14" name="アイコンの円-10"/>
          <p:cNvSpPr/>
          <p:nvPr/>
        </p:nvSpPr>
        <p:spPr>
          <a:xfrm>
            <a:off x="6391656" y="1691640"/>
            <a:ext cx="594360" cy="594360"/>
          </a:xfrm>
          <a:prstGeom prst="ellipse">
            <a:avLst/>
          </a:prstGeom>
          <a:solidFill>
            <a:schemeClr val="accent1"/>
          </a:solidFill>
          <a:ln w="12700">
            <a:solidFill>
              <a:schemeClr val="accent1"/>
            </a:solidFill>
            <a:prstDash val="solid"/>
          </a:ln>
        </p:spPr>
      </p:sp>
      <p:pic>
        <p:nvPicPr>
          <p:cNvPr id="15" name="アイコン-11" descr="preencoded.png">    </p:cNvPr>
          <p:cNvPicPr>
            <a:picLocks noChangeAspect="1"/>
          </p:cNvPicPr>
          <p:nvPr/>
        </p:nvPicPr>
        <p:blipFill>
          <a:blip r:embed="rId3"/>
          <a:stretch>
            <a:fillRect/>
          </a:stretch>
        </p:blipFill>
        <p:spPr>
          <a:xfrm>
            <a:off x="6540246" y="1840230"/>
            <a:ext cx="297180" cy="297180"/>
          </a:xfrm>
          <a:prstGeom prst="rect">
            <a:avLst/>
          </a:prstGeom>
        </p:spPr>
      </p:pic>
      <p:sp>
        <p:nvSpPr>
          <p:cNvPr id="16" name="Text 11"/>
          <p:cNvSpPr txBox="1"/>
          <p:nvPr/>
        </p:nvSpPr>
        <p:spPr>
          <a:xfrm>
            <a:off x="6391656" y="2423160"/>
            <a:ext cx="2240280" cy="548640"/>
          </a:xfrm>
          <a:prstGeom prst="rect">
            <a:avLst/>
          </a:prstGeom>
          <a:noFill/>
          <a:ln/>
        </p:spPr>
        <p:txBody>
          <a:bodyPr wrap="square" lIns="0" tIns="0" rIns="0" bIns="0" rtlCol="0" anchor="t"/>
          <a:lstStyle/>
          <a:p>
            <a:pPr indent="0" marL="0">
              <a:buNone/>
            </a:pPr>
            <a:r>
              <a:rPr lang="en-US" sz="1500" b="1" dirty="0">
                <a:solidFill>
                  <a:schemeClr val="tx2"/>
                </a:solidFill>
              </a:rPr>
              <a:t>まとめて声かけ</a:t>
            </a:r>
            <a:endParaRPr lang="en-US" sz="1500" dirty="0"/>
          </a:p>
        </p:txBody>
      </p:sp>
      <p:sp>
        <p:nvSpPr>
          <p:cNvPr id="17" name="Text 12"/>
          <p:cNvSpPr txBox="1"/>
          <p:nvPr/>
        </p:nvSpPr>
        <p:spPr>
          <a:xfrm>
            <a:off x="6391656" y="2971800"/>
            <a:ext cx="2240280" cy="548640"/>
          </a:xfrm>
          <a:prstGeom prst="rect">
            <a:avLst/>
          </a:prstGeom>
          <a:noFill/>
          <a:ln/>
        </p:spPr>
        <p:txBody>
          <a:bodyPr wrap="square" lIns="0" tIns="0" rIns="0" bIns="0" rtlCol="0" anchor="t"/>
          <a:lstStyle/>
          <a:p>
            <a:pPr indent="0" marL="0">
              <a:buNone/>
            </a:pPr>
            <a:r>
              <a:rPr lang="en-US" sz="1300" dirty="0">
                <a:solidFill>
                  <a:schemeClr val="tx1"/>
                </a:solidFill>
              </a:rPr>
              <a:t>未提出を生徒ごとにまとめる</a:t>
            </a:r>
            <a:endParaRPr lang="en-US" sz="1300" dirty="0"/>
          </a:p>
        </p:txBody>
      </p:sp>
      <p:sp>
        <p:nvSpPr>
          <p:cNvPr id="18" name="カード-12"/>
          <p:cNvSpPr/>
          <p:nvPr/>
        </p:nvSpPr>
        <p:spPr>
          <a:xfrm>
            <a:off x="8970264" y="1463040"/>
            <a:ext cx="2624328" cy="2148840"/>
          </a:xfrm>
          <a:prstGeom prst="roundRect">
            <a:avLst>
              <a:gd name="adj" fmla="val 5106"/>
            </a:avLst>
          </a:prstGeom>
          <a:solidFill>
            <a:schemeClr val="bg2"/>
          </a:solidFill>
          <a:ln w="12700">
            <a:solidFill>
              <a:schemeClr val="bg2"/>
            </a:solidFill>
            <a:prstDash val="solid"/>
          </a:ln>
        </p:spPr>
      </p:sp>
      <p:sp>
        <p:nvSpPr>
          <p:cNvPr id="19" name="アイコンの円-13"/>
          <p:cNvSpPr/>
          <p:nvPr/>
        </p:nvSpPr>
        <p:spPr>
          <a:xfrm>
            <a:off x="9198864" y="1691640"/>
            <a:ext cx="594360" cy="594360"/>
          </a:xfrm>
          <a:prstGeom prst="ellipse">
            <a:avLst/>
          </a:prstGeom>
          <a:solidFill>
            <a:schemeClr val="accent1"/>
          </a:solidFill>
          <a:ln w="12700">
            <a:solidFill>
              <a:schemeClr val="accent1"/>
            </a:solidFill>
            <a:prstDash val="solid"/>
          </a:ln>
        </p:spPr>
      </p:sp>
      <p:pic>
        <p:nvPicPr>
          <p:cNvPr id="20" name="アイコン-14" descr="preencoded.png">    </p:cNvPr>
          <p:cNvPicPr>
            <a:picLocks noChangeAspect="1"/>
          </p:cNvPicPr>
          <p:nvPr/>
        </p:nvPicPr>
        <p:blipFill>
          <a:blip r:embed="rId4"/>
          <a:stretch>
            <a:fillRect/>
          </a:stretch>
        </p:blipFill>
        <p:spPr>
          <a:xfrm>
            <a:off x="9347454" y="1840230"/>
            <a:ext cx="297180" cy="297180"/>
          </a:xfrm>
          <a:prstGeom prst="rect">
            <a:avLst/>
          </a:prstGeom>
        </p:spPr>
      </p:pic>
      <p:sp>
        <p:nvSpPr>
          <p:cNvPr id="21" name="Text 15"/>
          <p:cNvSpPr txBox="1"/>
          <p:nvPr/>
        </p:nvSpPr>
        <p:spPr>
          <a:xfrm>
            <a:off x="9198864" y="2423160"/>
            <a:ext cx="2240280" cy="548640"/>
          </a:xfrm>
          <a:prstGeom prst="rect">
            <a:avLst/>
          </a:prstGeom>
          <a:noFill/>
          <a:ln/>
        </p:spPr>
        <p:txBody>
          <a:bodyPr wrap="square" lIns="0" tIns="0" rIns="0" bIns="0" rtlCol="0" anchor="t"/>
          <a:lstStyle/>
          <a:p>
            <a:pPr indent="0" marL="0">
              <a:buNone/>
            </a:pPr>
            <a:r>
              <a:rPr lang="en-US" sz="1500" b="1" dirty="0">
                <a:solidFill>
                  <a:schemeClr val="tx2"/>
                </a:solidFill>
              </a:rPr>
              <a:t>メールで一人ずつ</a:t>
            </a:r>
            <a:endParaRPr lang="en-US" sz="1500" dirty="0"/>
          </a:p>
        </p:txBody>
      </p:sp>
      <p:sp>
        <p:nvSpPr>
          <p:cNvPr id="22" name="Text 16"/>
          <p:cNvSpPr txBox="1"/>
          <p:nvPr/>
        </p:nvSpPr>
        <p:spPr>
          <a:xfrm>
            <a:off x="9198864" y="2971800"/>
            <a:ext cx="2240280" cy="548640"/>
          </a:xfrm>
          <a:prstGeom prst="rect">
            <a:avLst/>
          </a:prstGeom>
          <a:noFill/>
          <a:ln/>
        </p:spPr>
        <p:txBody>
          <a:bodyPr wrap="square" lIns="0" tIns="0" rIns="0" bIns="0" rtlCol="0" anchor="t"/>
          <a:lstStyle/>
          <a:p>
            <a:pPr indent="0" marL="0">
              <a:buNone/>
            </a:pPr>
            <a:r>
              <a:rPr lang="en-US" sz="1300" dirty="0">
                <a:solidFill>
                  <a:schemeClr val="tx1"/>
                </a:solidFill>
              </a:rPr>
              <a:t>本人の未提出だけをGmailで送信</a:t>
            </a:r>
            <a:endParaRPr lang="en-US" sz="1300" dirty="0"/>
          </a:p>
        </p:txBody>
      </p:sp>
      <p:sp>
        <p:nvSpPr>
          <p:cNvPr id="23" name="カード-15"/>
          <p:cNvSpPr/>
          <p:nvPr/>
        </p:nvSpPr>
        <p:spPr>
          <a:xfrm>
            <a:off x="548640" y="3840480"/>
            <a:ext cx="2624328" cy="2148840"/>
          </a:xfrm>
          <a:prstGeom prst="roundRect">
            <a:avLst>
              <a:gd name="adj" fmla="val 5106"/>
            </a:avLst>
          </a:prstGeom>
          <a:solidFill>
            <a:schemeClr val="bg2"/>
          </a:solidFill>
          <a:ln w="12700">
            <a:solidFill>
              <a:schemeClr val="bg2"/>
            </a:solidFill>
            <a:prstDash val="solid"/>
          </a:ln>
        </p:spPr>
      </p:sp>
      <p:sp>
        <p:nvSpPr>
          <p:cNvPr id="24" name="アイコンの円-16"/>
          <p:cNvSpPr/>
          <p:nvPr/>
        </p:nvSpPr>
        <p:spPr>
          <a:xfrm>
            <a:off x="777240" y="4069080"/>
            <a:ext cx="594360" cy="594360"/>
          </a:xfrm>
          <a:prstGeom prst="ellipse">
            <a:avLst/>
          </a:prstGeom>
          <a:solidFill>
            <a:schemeClr val="accent1"/>
          </a:solidFill>
          <a:ln w="12700">
            <a:solidFill>
              <a:schemeClr val="accent1"/>
            </a:solidFill>
            <a:prstDash val="solid"/>
          </a:ln>
        </p:spPr>
      </p:sp>
      <p:pic>
        <p:nvPicPr>
          <p:cNvPr id="25" name="アイコン-17" descr="preencoded.png">    </p:cNvPr>
          <p:cNvPicPr>
            <a:picLocks noChangeAspect="1"/>
          </p:cNvPicPr>
          <p:nvPr/>
        </p:nvPicPr>
        <p:blipFill>
          <a:blip r:embed="rId5"/>
          <a:stretch>
            <a:fillRect/>
          </a:stretch>
        </p:blipFill>
        <p:spPr>
          <a:xfrm>
            <a:off x="925830" y="4217670"/>
            <a:ext cx="297180" cy="297180"/>
          </a:xfrm>
          <a:prstGeom prst="rect">
            <a:avLst/>
          </a:prstGeom>
        </p:spPr>
      </p:pic>
      <p:sp>
        <p:nvSpPr>
          <p:cNvPr id="26" name="Text 19"/>
          <p:cNvSpPr txBox="1"/>
          <p:nvPr/>
        </p:nvSpPr>
        <p:spPr>
          <a:xfrm>
            <a:off x="777240" y="4800600"/>
            <a:ext cx="2240280" cy="548640"/>
          </a:xfrm>
          <a:prstGeom prst="rect">
            <a:avLst/>
          </a:prstGeom>
          <a:noFill/>
          <a:ln/>
        </p:spPr>
        <p:txBody>
          <a:bodyPr wrap="square" lIns="0" tIns="0" rIns="0" bIns="0" rtlCol="0" anchor="t"/>
          <a:lstStyle/>
          <a:p>
            <a:pPr indent="0" marL="0">
              <a:buNone/>
            </a:pPr>
            <a:r>
              <a:rPr lang="en-US" sz="1500" b="1" dirty="0">
                <a:solidFill>
                  <a:schemeClr val="tx2"/>
                </a:solidFill>
              </a:rPr>
              <a:t>手紙を1人1枚で印刷</a:t>
            </a:r>
            <a:endParaRPr lang="en-US" sz="1500" dirty="0"/>
          </a:p>
        </p:txBody>
      </p:sp>
      <p:sp>
        <p:nvSpPr>
          <p:cNvPr id="27" name="Text 20"/>
          <p:cNvSpPr txBox="1"/>
          <p:nvPr/>
        </p:nvSpPr>
        <p:spPr>
          <a:xfrm>
            <a:off x="777240" y="5349240"/>
            <a:ext cx="2240280" cy="548640"/>
          </a:xfrm>
          <a:prstGeom prst="rect">
            <a:avLst/>
          </a:prstGeom>
          <a:noFill/>
          <a:ln/>
        </p:spPr>
        <p:txBody>
          <a:bodyPr wrap="square" lIns="0" tIns="0" rIns="0" bIns="0" rtlCol="0" anchor="t"/>
          <a:lstStyle/>
          <a:p>
            <a:pPr indent="0" marL="0">
              <a:buNone/>
            </a:pPr>
            <a:r>
              <a:rPr lang="en-US" sz="1300" dirty="0">
                <a:solidFill>
                  <a:schemeClr val="tx1"/>
                </a:solidFill>
              </a:rPr>
              <a:t>メールと同じ文面を紙でも</a:t>
            </a:r>
            <a:endParaRPr lang="en-US" sz="1300" dirty="0"/>
          </a:p>
        </p:txBody>
      </p:sp>
      <p:sp>
        <p:nvSpPr>
          <p:cNvPr id="28" name="カード-18"/>
          <p:cNvSpPr/>
          <p:nvPr/>
        </p:nvSpPr>
        <p:spPr>
          <a:xfrm>
            <a:off x="3355848" y="3840480"/>
            <a:ext cx="2624328" cy="2148840"/>
          </a:xfrm>
          <a:prstGeom prst="roundRect">
            <a:avLst>
              <a:gd name="adj" fmla="val 5106"/>
            </a:avLst>
          </a:prstGeom>
          <a:solidFill>
            <a:schemeClr val="bg2"/>
          </a:solidFill>
          <a:ln w="12700">
            <a:solidFill>
              <a:schemeClr val="bg2"/>
            </a:solidFill>
            <a:prstDash val="solid"/>
          </a:ln>
        </p:spPr>
      </p:sp>
      <p:sp>
        <p:nvSpPr>
          <p:cNvPr id="29" name="アイコンの円-19"/>
          <p:cNvSpPr/>
          <p:nvPr/>
        </p:nvSpPr>
        <p:spPr>
          <a:xfrm>
            <a:off x="3584448" y="4069080"/>
            <a:ext cx="594360" cy="594360"/>
          </a:xfrm>
          <a:prstGeom prst="ellipse">
            <a:avLst/>
          </a:prstGeom>
          <a:solidFill>
            <a:schemeClr val="accent1"/>
          </a:solidFill>
          <a:ln w="12700">
            <a:solidFill>
              <a:schemeClr val="accent1"/>
            </a:solidFill>
            <a:prstDash val="solid"/>
          </a:ln>
        </p:spPr>
      </p:sp>
      <p:pic>
        <p:nvPicPr>
          <p:cNvPr id="30" name="アイコン-20" descr="preencoded.png">    </p:cNvPr>
          <p:cNvPicPr>
            <a:picLocks noChangeAspect="1"/>
          </p:cNvPicPr>
          <p:nvPr/>
        </p:nvPicPr>
        <p:blipFill>
          <a:blip r:embed="rId6"/>
          <a:stretch>
            <a:fillRect/>
          </a:stretch>
        </p:blipFill>
        <p:spPr>
          <a:xfrm>
            <a:off x="3733038" y="4217670"/>
            <a:ext cx="297180" cy="297180"/>
          </a:xfrm>
          <a:prstGeom prst="rect">
            <a:avLst/>
          </a:prstGeom>
        </p:spPr>
      </p:pic>
      <p:sp>
        <p:nvSpPr>
          <p:cNvPr id="31" name="Text 23"/>
          <p:cNvSpPr txBox="1"/>
          <p:nvPr/>
        </p:nvSpPr>
        <p:spPr>
          <a:xfrm>
            <a:off x="3584448" y="4800600"/>
            <a:ext cx="2240280" cy="548640"/>
          </a:xfrm>
          <a:prstGeom prst="rect">
            <a:avLst/>
          </a:prstGeom>
          <a:noFill/>
          <a:ln/>
        </p:spPr>
        <p:txBody>
          <a:bodyPr wrap="square" lIns="0" tIns="0" rIns="0" bIns="0" rtlCol="0" anchor="t"/>
          <a:lstStyle/>
          <a:p>
            <a:pPr indent="0" marL="0">
              <a:buNone/>
            </a:pPr>
            <a:r>
              <a:rPr lang="en-US" sz="1500" b="1" dirty="0">
                <a:solidFill>
                  <a:schemeClr val="tx2"/>
                </a:solidFill>
              </a:rPr>
              <a:t>Classroomに掲示</a:t>
            </a:r>
            <a:endParaRPr lang="en-US" sz="1500" dirty="0"/>
          </a:p>
        </p:txBody>
      </p:sp>
      <p:sp>
        <p:nvSpPr>
          <p:cNvPr id="32" name="Text 24"/>
          <p:cNvSpPr txBox="1"/>
          <p:nvPr/>
        </p:nvSpPr>
        <p:spPr>
          <a:xfrm>
            <a:off x="3584448" y="5349240"/>
            <a:ext cx="2240280" cy="548640"/>
          </a:xfrm>
          <a:prstGeom prst="rect">
            <a:avLst/>
          </a:prstGeom>
          <a:noFill/>
          <a:ln/>
        </p:spPr>
        <p:txBody>
          <a:bodyPr wrap="square" lIns="0" tIns="0" rIns="0" bIns="0" rtlCol="0" anchor="t"/>
          <a:lstStyle/>
          <a:p>
            <a:pPr indent="0" marL="0">
              <a:buNone/>
            </a:pPr>
            <a:r>
              <a:rPr lang="en-US" sz="1300" dirty="0">
                <a:solidFill>
                  <a:schemeClr val="tx1"/>
                </a:solidFill>
              </a:rPr>
              <a:t>チェックがすぐ反映、生徒は閲覧のみ</a:t>
            </a:r>
            <a:endParaRPr lang="en-US" sz="1300" dirty="0"/>
          </a:p>
        </p:txBody>
      </p:sp>
      <p:sp>
        <p:nvSpPr>
          <p:cNvPr id="33" name="カード-21"/>
          <p:cNvSpPr/>
          <p:nvPr/>
        </p:nvSpPr>
        <p:spPr>
          <a:xfrm>
            <a:off x="6163056" y="3840480"/>
            <a:ext cx="2624328" cy="2148840"/>
          </a:xfrm>
          <a:prstGeom prst="roundRect">
            <a:avLst>
              <a:gd name="adj" fmla="val 5106"/>
            </a:avLst>
          </a:prstGeom>
          <a:solidFill>
            <a:schemeClr val="bg2"/>
          </a:solidFill>
          <a:ln w="12700">
            <a:solidFill>
              <a:schemeClr val="bg2"/>
            </a:solidFill>
            <a:prstDash val="solid"/>
          </a:ln>
        </p:spPr>
      </p:sp>
      <p:sp>
        <p:nvSpPr>
          <p:cNvPr id="34" name="アイコンの円-22"/>
          <p:cNvSpPr/>
          <p:nvPr/>
        </p:nvSpPr>
        <p:spPr>
          <a:xfrm>
            <a:off x="6391656" y="4069080"/>
            <a:ext cx="594360" cy="594360"/>
          </a:xfrm>
          <a:prstGeom prst="ellipse">
            <a:avLst/>
          </a:prstGeom>
          <a:solidFill>
            <a:schemeClr val="accent1"/>
          </a:solidFill>
          <a:ln w="12700">
            <a:solidFill>
              <a:schemeClr val="accent1"/>
            </a:solidFill>
            <a:prstDash val="solid"/>
          </a:ln>
        </p:spPr>
      </p:sp>
      <p:pic>
        <p:nvPicPr>
          <p:cNvPr id="35" name="アイコン-23" descr="preencoded.png">    </p:cNvPr>
          <p:cNvPicPr>
            <a:picLocks noChangeAspect="1"/>
          </p:cNvPicPr>
          <p:nvPr/>
        </p:nvPicPr>
        <p:blipFill>
          <a:blip r:embed="rId7"/>
          <a:stretch>
            <a:fillRect/>
          </a:stretch>
        </p:blipFill>
        <p:spPr>
          <a:xfrm>
            <a:off x="6540246" y="4217670"/>
            <a:ext cx="297180" cy="297180"/>
          </a:xfrm>
          <a:prstGeom prst="rect">
            <a:avLst/>
          </a:prstGeom>
        </p:spPr>
      </p:pic>
      <p:sp>
        <p:nvSpPr>
          <p:cNvPr id="36" name="Text 27"/>
          <p:cNvSpPr txBox="1"/>
          <p:nvPr/>
        </p:nvSpPr>
        <p:spPr>
          <a:xfrm>
            <a:off x="6391656" y="4800600"/>
            <a:ext cx="2240280" cy="548640"/>
          </a:xfrm>
          <a:prstGeom prst="rect">
            <a:avLst/>
          </a:prstGeom>
          <a:noFill/>
          <a:ln/>
        </p:spPr>
        <p:txBody>
          <a:bodyPr wrap="square" lIns="0" tIns="0" rIns="0" bIns="0" rtlCol="0" anchor="t"/>
          <a:lstStyle/>
          <a:p>
            <a:pPr indent="0" marL="0">
              <a:buNone/>
            </a:pPr>
            <a:r>
              <a:rPr lang="en-US" sz="1500" b="1" dirty="0">
                <a:solidFill>
                  <a:schemeClr val="tx2"/>
                </a:solidFill>
              </a:rPr>
              <a:t>どの端末でも同じデータ</a:t>
            </a:r>
            <a:endParaRPr lang="en-US" sz="1500" dirty="0"/>
          </a:p>
        </p:txBody>
      </p:sp>
      <p:sp>
        <p:nvSpPr>
          <p:cNvPr id="37" name="Text 28"/>
          <p:cNvSpPr txBox="1"/>
          <p:nvPr/>
        </p:nvSpPr>
        <p:spPr>
          <a:xfrm>
            <a:off x="6391656" y="5349240"/>
            <a:ext cx="2240280" cy="548640"/>
          </a:xfrm>
          <a:prstGeom prst="rect">
            <a:avLst/>
          </a:prstGeom>
          <a:noFill/>
          <a:ln/>
        </p:spPr>
        <p:txBody>
          <a:bodyPr wrap="square" lIns="0" tIns="0" rIns="0" bIns="0" rtlCol="0" anchor="t"/>
          <a:lstStyle/>
          <a:p>
            <a:pPr indent="0" marL="0">
              <a:buNone/>
            </a:pPr>
            <a:r>
              <a:rPr lang="en-US" sz="1300" dirty="0">
                <a:solidFill>
                  <a:schemeClr val="tx1"/>
                </a:solidFill>
              </a:rPr>
              <a:t>パソコン・iPad・Chromebook</a:t>
            </a:r>
            <a:endParaRPr lang="en-US" sz="1300" dirty="0"/>
          </a:p>
        </p:txBody>
      </p:sp>
      <p:sp>
        <p:nvSpPr>
          <p:cNvPr id="38" name="カード-24"/>
          <p:cNvSpPr/>
          <p:nvPr/>
        </p:nvSpPr>
        <p:spPr>
          <a:xfrm>
            <a:off x="8970264" y="3840480"/>
            <a:ext cx="2624328" cy="2148840"/>
          </a:xfrm>
          <a:prstGeom prst="roundRect">
            <a:avLst>
              <a:gd name="adj" fmla="val 5106"/>
            </a:avLst>
          </a:prstGeom>
          <a:solidFill>
            <a:schemeClr val="bg2"/>
          </a:solidFill>
          <a:ln w="12700">
            <a:solidFill>
              <a:schemeClr val="bg2"/>
            </a:solidFill>
            <a:prstDash val="solid"/>
          </a:ln>
        </p:spPr>
      </p:sp>
      <p:sp>
        <p:nvSpPr>
          <p:cNvPr id="39" name="アイコンの円-25"/>
          <p:cNvSpPr/>
          <p:nvPr/>
        </p:nvSpPr>
        <p:spPr>
          <a:xfrm>
            <a:off x="9198864" y="4069080"/>
            <a:ext cx="594360" cy="594360"/>
          </a:xfrm>
          <a:prstGeom prst="ellipse">
            <a:avLst/>
          </a:prstGeom>
          <a:solidFill>
            <a:schemeClr val="accent1"/>
          </a:solidFill>
          <a:ln w="12700">
            <a:solidFill>
              <a:schemeClr val="accent1"/>
            </a:solidFill>
            <a:prstDash val="solid"/>
          </a:ln>
        </p:spPr>
      </p:sp>
      <p:pic>
        <p:nvPicPr>
          <p:cNvPr id="40" name="アイコン-26" descr="preencoded.png">    </p:cNvPr>
          <p:cNvPicPr>
            <a:picLocks noChangeAspect="1"/>
          </p:cNvPicPr>
          <p:nvPr/>
        </p:nvPicPr>
        <p:blipFill>
          <a:blip r:embed="rId8"/>
          <a:stretch>
            <a:fillRect/>
          </a:stretch>
        </p:blipFill>
        <p:spPr>
          <a:xfrm>
            <a:off x="9347454" y="4217670"/>
            <a:ext cx="297180" cy="297180"/>
          </a:xfrm>
          <a:prstGeom prst="rect">
            <a:avLst/>
          </a:prstGeom>
        </p:spPr>
      </p:pic>
      <p:sp>
        <p:nvSpPr>
          <p:cNvPr id="41" name="Text 31"/>
          <p:cNvSpPr txBox="1"/>
          <p:nvPr/>
        </p:nvSpPr>
        <p:spPr>
          <a:xfrm>
            <a:off x="9198864" y="4800600"/>
            <a:ext cx="2240280" cy="548640"/>
          </a:xfrm>
          <a:prstGeom prst="rect">
            <a:avLst/>
          </a:prstGeom>
          <a:noFill/>
          <a:ln/>
        </p:spPr>
        <p:txBody>
          <a:bodyPr wrap="square" lIns="0" tIns="0" rIns="0" bIns="0" rtlCol="0" anchor="t"/>
          <a:lstStyle/>
          <a:p>
            <a:pPr indent="0" marL="0">
              <a:buNone/>
            </a:pPr>
            <a:r>
              <a:rPr lang="en-US" sz="1500" b="1" dirty="0">
                <a:solidFill>
                  <a:schemeClr val="tx2"/>
                </a:solidFill>
              </a:rPr>
              <a:t>データは先生ごとに別々</a:t>
            </a:r>
            <a:endParaRPr lang="en-US" sz="1500" dirty="0"/>
          </a:p>
        </p:txBody>
      </p:sp>
      <p:sp>
        <p:nvSpPr>
          <p:cNvPr id="42" name="Text 32"/>
          <p:cNvSpPr txBox="1"/>
          <p:nvPr/>
        </p:nvSpPr>
        <p:spPr>
          <a:xfrm>
            <a:off x="9198864" y="5349240"/>
            <a:ext cx="2240280" cy="548640"/>
          </a:xfrm>
          <a:prstGeom prst="rect">
            <a:avLst/>
          </a:prstGeom>
          <a:noFill/>
          <a:ln/>
        </p:spPr>
        <p:txBody>
          <a:bodyPr wrap="square" lIns="0" tIns="0" rIns="0" bIns="0" rtlCol="0" anchor="t"/>
          <a:lstStyle/>
          <a:p>
            <a:pPr indent="0" marL="0">
              <a:buNone/>
            </a:pPr>
            <a:r>
              <a:rPr lang="en-US" sz="1300" dirty="0">
                <a:solidFill>
                  <a:schemeClr val="tx1"/>
                </a:solidFill>
              </a:rPr>
              <a:t>ほかの先生からは見えない</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画面の見取り図：上のメニューで切り替える</a:t>
            </a:r>
            <a:endParaRPr lang="en-US" sz="3000" dirty="0"/>
          </a:p>
        </p:txBody>
      </p:sp>
      <p:sp>
        <p:nvSpPr>
          <p:cNvPr id="3" name="画面の枠-27"/>
          <p:cNvSpPr/>
          <p:nvPr/>
        </p:nvSpPr>
        <p:spPr>
          <a:xfrm>
            <a:off x="566928" y="1389888"/>
            <a:ext cx="11027664" cy="562856"/>
          </a:xfrm>
          <a:prstGeom prst="roundRect">
            <a:avLst>
              <a:gd name="adj" fmla="val 12997"/>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28" descr="shots2/nav.png">    </p:cNvPr>
          <p:cNvPicPr>
            <a:picLocks noChangeAspect="1"/>
          </p:cNvPicPr>
          <p:nvPr/>
        </p:nvPicPr>
        <p:blipFill>
          <a:blip r:embed="rId1"/>
          <a:stretch>
            <a:fillRect/>
          </a:stretch>
        </p:blipFill>
        <p:spPr>
          <a:xfrm>
            <a:off x="640080" y="1463040"/>
            <a:ext cx="10881360" cy="416552"/>
          </a:xfrm>
          <a:prstGeom prst="rect">
            <a:avLst/>
          </a:prstGeom>
        </p:spPr>
      </p:pic>
      <p:sp>
        <p:nvSpPr>
          <p:cNvPr id="5" name="カード-29"/>
          <p:cNvSpPr/>
          <p:nvPr/>
        </p:nvSpPr>
        <p:spPr>
          <a:xfrm>
            <a:off x="548640" y="2148840"/>
            <a:ext cx="3520440" cy="1737360"/>
          </a:xfrm>
          <a:prstGeom prst="roundRect">
            <a:avLst>
              <a:gd name="adj" fmla="val 6316"/>
            </a:avLst>
          </a:prstGeom>
          <a:solidFill>
            <a:schemeClr val="bg2"/>
          </a:solidFill>
          <a:ln w="12700">
            <a:solidFill>
              <a:schemeClr val="bg2"/>
            </a:solidFill>
            <a:prstDash val="solid"/>
          </a:ln>
        </p:spPr>
      </p:sp>
      <p:sp>
        <p:nvSpPr>
          <p:cNvPr id="6" name="番号-30"/>
          <p:cNvSpPr/>
          <p:nvPr/>
        </p:nvSpPr>
        <p:spPr>
          <a:xfrm>
            <a:off x="777240" y="237744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23774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回収状況</a:t>
            </a:r>
            <a:endParaRPr lang="en-US" sz="1700" dirty="0"/>
          </a:p>
        </p:txBody>
      </p:sp>
      <p:sp>
        <p:nvSpPr>
          <p:cNvPr id="9" name="Text 6"/>
          <p:cNvSpPr txBox="1"/>
          <p:nvPr/>
        </p:nvSpPr>
        <p:spPr>
          <a:xfrm>
            <a:off x="777240" y="2971800"/>
            <a:ext cx="3063240" cy="777240"/>
          </a:xfrm>
          <a:prstGeom prst="rect">
            <a:avLst/>
          </a:prstGeom>
          <a:noFill/>
          <a:ln/>
        </p:spPr>
        <p:txBody>
          <a:bodyPr wrap="square" lIns="0" tIns="0" rIns="0" bIns="0" rtlCol="0" anchor="t"/>
          <a:lstStyle/>
          <a:p>
            <a:pPr indent="0" marL="0">
              <a:buNone/>
            </a:pPr>
            <a:r>
              <a:rPr lang="en-US" sz="1400" dirty="0">
                <a:solidFill>
                  <a:schemeClr val="tx1"/>
                </a:solidFill>
              </a:rPr>
              <a:t>提出物ごとの回収の様子をカードで一覧。今日締切が上に</a:t>
            </a:r>
            <a:endParaRPr lang="en-US" sz="1400" dirty="0"/>
          </a:p>
        </p:txBody>
      </p:sp>
      <p:sp>
        <p:nvSpPr>
          <p:cNvPr id="10" name="カード-31"/>
          <p:cNvSpPr/>
          <p:nvPr/>
        </p:nvSpPr>
        <p:spPr>
          <a:xfrm>
            <a:off x="4297680" y="2148840"/>
            <a:ext cx="3520440" cy="1737360"/>
          </a:xfrm>
          <a:prstGeom prst="roundRect">
            <a:avLst>
              <a:gd name="adj" fmla="val 6316"/>
            </a:avLst>
          </a:prstGeom>
          <a:solidFill>
            <a:schemeClr val="bg2"/>
          </a:solidFill>
          <a:ln w="12700">
            <a:solidFill>
              <a:schemeClr val="bg2"/>
            </a:solidFill>
            <a:prstDash val="solid"/>
          </a:ln>
        </p:spPr>
      </p:sp>
      <p:sp>
        <p:nvSpPr>
          <p:cNvPr id="11" name="番号-32"/>
          <p:cNvSpPr/>
          <p:nvPr/>
        </p:nvSpPr>
        <p:spPr>
          <a:xfrm>
            <a:off x="4526280" y="237744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452628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5120640" y="23774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チェック入力</a:t>
            </a:r>
            <a:endParaRPr lang="en-US" sz="1700" dirty="0"/>
          </a:p>
        </p:txBody>
      </p:sp>
      <p:sp>
        <p:nvSpPr>
          <p:cNvPr id="14" name="Text 11"/>
          <p:cNvSpPr txBox="1"/>
          <p:nvPr/>
        </p:nvSpPr>
        <p:spPr>
          <a:xfrm>
            <a:off x="4526280" y="2971800"/>
            <a:ext cx="3063240" cy="777240"/>
          </a:xfrm>
          <a:prstGeom prst="rect">
            <a:avLst/>
          </a:prstGeom>
          <a:noFill/>
          <a:ln/>
        </p:spPr>
        <p:txBody>
          <a:bodyPr wrap="square" lIns="0" tIns="0" rIns="0" bIns="0" rtlCol="0" anchor="t"/>
          <a:lstStyle/>
          <a:p>
            <a:pPr indent="0" marL="0">
              <a:buNone/>
            </a:pPr>
            <a:r>
              <a:rPr lang="en-US" sz="1400" dirty="0">
                <a:solidFill>
                  <a:schemeClr val="tx1"/>
                </a:solidFill>
              </a:rPr>
              <a:t>提出した生徒の番号のマスを押す。番号入力もできる</a:t>
            </a:r>
            <a:endParaRPr lang="en-US" sz="1400" dirty="0"/>
          </a:p>
        </p:txBody>
      </p:sp>
      <p:sp>
        <p:nvSpPr>
          <p:cNvPr id="15" name="カード-33"/>
          <p:cNvSpPr/>
          <p:nvPr/>
        </p:nvSpPr>
        <p:spPr>
          <a:xfrm>
            <a:off x="8046720" y="2148840"/>
            <a:ext cx="3520440" cy="1737360"/>
          </a:xfrm>
          <a:prstGeom prst="roundRect">
            <a:avLst>
              <a:gd name="adj" fmla="val 6316"/>
            </a:avLst>
          </a:prstGeom>
          <a:solidFill>
            <a:schemeClr val="bg2"/>
          </a:solidFill>
          <a:ln w="12700">
            <a:solidFill>
              <a:schemeClr val="bg2"/>
            </a:solidFill>
            <a:prstDash val="solid"/>
          </a:ln>
        </p:spPr>
      </p:sp>
      <p:sp>
        <p:nvSpPr>
          <p:cNvPr id="16" name="番号-34"/>
          <p:cNvSpPr/>
          <p:nvPr/>
        </p:nvSpPr>
        <p:spPr>
          <a:xfrm>
            <a:off x="8275320" y="237744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827532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5"/>
          <p:cNvSpPr txBox="1"/>
          <p:nvPr/>
        </p:nvSpPr>
        <p:spPr>
          <a:xfrm>
            <a:off x="8869680" y="23774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声かけビュー</a:t>
            </a:r>
            <a:endParaRPr lang="en-US" sz="1700" dirty="0"/>
          </a:p>
        </p:txBody>
      </p:sp>
      <p:sp>
        <p:nvSpPr>
          <p:cNvPr id="19" name="Text 16"/>
          <p:cNvSpPr txBox="1"/>
          <p:nvPr/>
        </p:nvSpPr>
        <p:spPr>
          <a:xfrm>
            <a:off x="8275320" y="2971800"/>
            <a:ext cx="3063240" cy="777240"/>
          </a:xfrm>
          <a:prstGeom prst="rect">
            <a:avLst/>
          </a:prstGeom>
          <a:noFill/>
          <a:ln/>
        </p:spPr>
        <p:txBody>
          <a:bodyPr wrap="square" lIns="0" tIns="0" rIns="0" bIns="0" rtlCol="0" anchor="t"/>
          <a:lstStyle/>
          <a:p>
            <a:pPr indent="0" marL="0">
              <a:buNone/>
            </a:pPr>
            <a:r>
              <a:rPr lang="en-US" sz="1400" dirty="0">
                <a:solidFill>
                  <a:schemeClr val="tx1"/>
                </a:solidFill>
              </a:rPr>
              <a:t>未提出を生徒ごとにまとめる。メール送信もここから</a:t>
            </a:r>
            <a:endParaRPr lang="en-US" sz="1400" dirty="0"/>
          </a:p>
        </p:txBody>
      </p:sp>
      <p:sp>
        <p:nvSpPr>
          <p:cNvPr id="20" name="カード-35"/>
          <p:cNvSpPr/>
          <p:nvPr/>
        </p:nvSpPr>
        <p:spPr>
          <a:xfrm>
            <a:off x="548640" y="4114800"/>
            <a:ext cx="3520440" cy="1737360"/>
          </a:xfrm>
          <a:prstGeom prst="roundRect">
            <a:avLst>
              <a:gd name="adj" fmla="val 6316"/>
            </a:avLst>
          </a:prstGeom>
          <a:solidFill>
            <a:schemeClr val="bg2"/>
          </a:solidFill>
          <a:ln w="12700">
            <a:solidFill>
              <a:schemeClr val="bg2"/>
            </a:solidFill>
            <a:prstDash val="solid"/>
          </a:ln>
        </p:spPr>
      </p:sp>
      <p:sp>
        <p:nvSpPr>
          <p:cNvPr id="21" name="番号-36"/>
          <p:cNvSpPr/>
          <p:nvPr/>
        </p:nvSpPr>
        <p:spPr>
          <a:xfrm>
            <a:off x="777240" y="43434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Text 20"/>
          <p:cNvSpPr txBox="1"/>
          <p:nvPr/>
        </p:nvSpPr>
        <p:spPr>
          <a:xfrm>
            <a:off x="1371600" y="434340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印刷プレビュー</a:t>
            </a:r>
            <a:endParaRPr lang="en-US" sz="1700" dirty="0"/>
          </a:p>
        </p:txBody>
      </p:sp>
      <p:sp>
        <p:nvSpPr>
          <p:cNvPr id="24" name="Text 21"/>
          <p:cNvSpPr txBox="1"/>
          <p:nvPr/>
        </p:nvSpPr>
        <p:spPr>
          <a:xfrm>
            <a:off x="777240" y="4937760"/>
            <a:ext cx="3063240" cy="777240"/>
          </a:xfrm>
          <a:prstGeom prst="rect">
            <a:avLst/>
          </a:prstGeom>
          <a:noFill/>
          <a:ln/>
        </p:spPr>
        <p:txBody>
          <a:bodyPr wrap="square" lIns="0" tIns="0" rIns="0" bIns="0" rtlCol="0" anchor="t"/>
          <a:lstStyle/>
          <a:p>
            <a:pPr indent="0" marL="0">
              <a:buNone/>
            </a:pPr>
            <a:r>
              <a:rPr lang="en-US" sz="1400" dirty="0">
                <a:solidFill>
                  <a:schemeClr val="tx1"/>
                </a:solidFill>
              </a:rPr>
              <a:t>クラス別・手紙・白紙の印刷と、Classroomへの掲示</a:t>
            </a:r>
            <a:endParaRPr lang="en-US" sz="1400" dirty="0"/>
          </a:p>
        </p:txBody>
      </p:sp>
      <p:sp>
        <p:nvSpPr>
          <p:cNvPr id="25" name="カード-37"/>
          <p:cNvSpPr/>
          <p:nvPr/>
        </p:nvSpPr>
        <p:spPr>
          <a:xfrm>
            <a:off x="4297680" y="4114800"/>
            <a:ext cx="3520440" cy="1737360"/>
          </a:xfrm>
          <a:prstGeom prst="roundRect">
            <a:avLst>
              <a:gd name="adj" fmla="val 6316"/>
            </a:avLst>
          </a:prstGeom>
          <a:solidFill>
            <a:schemeClr val="bg2"/>
          </a:solidFill>
          <a:ln w="12700">
            <a:solidFill>
              <a:schemeClr val="bg2"/>
            </a:solidFill>
            <a:prstDash val="solid"/>
          </a:ln>
        </p:spPr>
      </p:sp>
      <p:sp>
        <p:nvSpPr>
          <p:cNvPr id="26" name="番号-38"/>
          <p:cNvSpPr/>
          <p:nvPr/>
        </p:nvSpPr>
        <p:spPr>
          <a:xfrm>
            <a:off x="4526280" y="4343400"/>
            <a:ext cx="457200" cy="457200"/>
          </a:xfrm>
          <a:prstGeom prst="ellipse">
            <a:avLst/>
          </a:prstGeom>
          <a:solidFill>
            <a:schemeClr val="accent1"/>
          </a:solidFill>
          <a:ln w="12700">
            <a:solidFill>
              <a:schemeClr val="accent1"/>
            </a:solidFill>
            <a:prstDash val="solid"/>
          </a:ln>
        </p:spPr>
      </p:sp>
      <p:sp>
        <p:nvSpPr>
          <p:cNvPr id="27" name="Text 24"/>
          <p:cNvSpPr txBox="1"/>
          <p:nvPr/>
        </p:nvSpPr>
        <p:spPr>
          <a:xfrm>
            <a:off x="4526280" y="4343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8" name="Text 25"/>
          <p:cNvSpPr txBox="1"/>
          <p:nvPr/>
        </p:nvSpPr>
        <p:spPr>
          <a:xfrm>
            <a:off x="5120640" y="434340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提出物</a:t>
            </a:r>
            <a:endParaRPr lang="en-US" sz="1700" dirty="0"/>
          </a:p>
        </p:txBody>
      </p:sp>
      <p:sp>
        <p:nvSpPr>
          <p:cNvPr id="29" name="Text 26"/>
          <p:cNvSpPr txBox="1"/>
          <p:nvPr/>
        </p:nvSpPr>
        <p:spPr>
          <a:xfrm>
            <a:off x="4526280" y="4937760"/>
            <a:ext cx="3063240" cy="777240"/>
          </a:xfrm>
          <a:prstGeom prst="rect">
            <a:avLst/>
          </a:prstGeom>
          <a:noFill/>
          <a:ln/>
        </p:spPr>
        <p:txBody>
          <a:bodyPr wrap="square" lIns="0" tIns="0" rIns="0" bIns="0" rtlCol="0" anchor="t"/>
          <a:lstStyle/>
          <a:p>
            <a:pPr indent="0" marL="0">
              <a:buNone/>
            </a:pPr>
            <a:r>
              <a:rPr lang="en-US" sz="1400" dirty="0">
                <a:solidFill>
                  <a:schemeClr val="tx1"/>
                </a:solidFill>
              </a:rPr>
              <a:t>提出物の登録・編集、クラス設定、データの管理</a:t>
            </a:r>
            <a:endParaRPr lang="en-US" sz="1400" dirty="0"/>
          </a:p>
        </p:txBody>
      </p:sp>
      <p:sp>
        <p:nvSpPr>
          <p:cNvPr id="30" name="カード-39"/>
          <p:cNvSpPr/>
          <p:nvPr/>
        </p:nvSpPr>
        <p:spPr>
          <a:xfrm>
            <a:off x="8046720" y="4114800"/>
            <a:ext cx="3520440" cy="1737360"/>
          </a:xfrm>
          <a:prstGeom prst="roundRect">
            <a:avLst>
              <a:gd name="adj" fmla="val 6316"/>
            </a:avLst>
          </a:prstGeom>
          <a:solidFill>
            <a:schemeClr val="bg2"/>
          </a:solidFill>
          <a:ln w="12700">
            <a:solidFill>
              <a:schemeClr val="bg2"/>
            </a:solidFill>
            <a:prstDash val="solid"/>
          </a:ln>
        </p:spPr>
      </p:sp>
      <p:sp>
        <p:nvSpPr>
          <p:cNvPr id="31" name="番号-40"/>
          <p:cNvSpPr/>
          <p:nvPr/>
        </p:nvSpPr>
        <p:spPr>
          <a:xfrm>
            <a:off x="8275320" y="4343400"/>
            <a:ext cx="457200" cy="457200"/>
          </a:xfrm>
          <a:prstGeom prst="ellipse">
            <a:avLst/>
          </a:prstGeom>
          <a:solidFill>
            <a:schemeClr val="accent1"/>
          </a:solidFill>
          <a:ln w="12700">
            <a:solidFill>
              <a:schemeClr val="accent1"/>
            </a:solidFill>
            <a:prstDash val="solid"/>
          </a:ln>
        </p:spPr>
      </p:sp>
      <p:sp>
        <p:nvSpPr>
          <p:cNvPr id="32" name="Text 29"/>
          <p:cNvSpPr txBox="1"/>
          <p:nvPr/>
        </p:nvSpPr>
        <p:spPr>
          <a:xfrm>
            <a:off x="8275320" y="4343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3" name="Text 30"/>
          <p:cNvSpPr txBox="1"/>
          <p:nvPr/>
        </p:nvSpPr>
        <p:spPr>
          <a:xfrm>
            <a:off x="8869680" y="434340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使い方</a:t>
            </a:r>
            <a:endParaRPr lang="en-US" sz="1700" dirty="0"/>
          </a:p>
        </p:txBody>
      </p:sp>
      <p:sp>
        <p:nvSpPr>
          <p:cNvPr id="34" name="Text 31"/>
          <p:cNvSpPr txBox="1"/>
          <p:nvPr/>
        </p:nvSpPr>
        <p:spPr>
          <a:xfrm>
            <a:off x="8275320" y="4937760"/>
            <a:ext cx="3063240" cy="777240"/>
          </a:xfrm>
          <a:prstGeom prst="rect">
            <a:avLst/>
          </a:prstGeom>
          <a:noFill/>
          <a:ln/>
        </p:spPr>
        <p:txBody>
          <a:bodyPr wrap="square" lIns="0" tIns="0" rIns="0" bIns="0" rtlCol="0" anchor="t"/>
          <a:lstStyle/>
          <a:p>
            <a:pPr indent="0" marL="0">
              <a:buNone/>
            </a:pPr>
            <a:r>
              <a:rPr lang="en-US" sz="1400" dirty="0">
                <a:solidFill>
                  <a:schemeClr val="tx1"/>
                </a:solidFill>
              </a:rPr>
              <a:t>アプリの中の説明。迷ったらここを開く</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はじめに：URLを開いて「許可」を押すだけ</a:t>
            </a:r>
            <a:endParaRPr lang="en-US" sz="3000" dirty="0"/>
          </a:p>
        </p:txBody>
      </p:sp>
      <p:sp>
        <p:nvSpPr>
          <p:cNvPr id="3" name="番号-41"/>
          <p:cNvSpPr/>
          <p:nvPr/>
        </p:nvSpPr>
        <p:spPr>
          <a:xfrm>
            <a:off x="548640" y="15544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手順-42"/>
          <p:cNvSpPr txBox="1"/>
          <p:nvPr/>
        </p:nvSpPr>
        <p:spPr>
          <a:xfrm>
            <a:off x="1188720" y="1481328"/>
            <a:ext cx="539496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学校のGoogleアカウントでログイン</a:t>
            </a:r>
            <a:endParaRPr lang="en-US" sz="1700" dirty="0"/>
          </a:p>
          <a:p>
            <a:pPr indent="0" marL="0">
              <a:spcAft>
                <a:spcPts val="200"/>
              </a:spcAft>
              <a:buNone/>
            </a:pPr>
            <a:r>
              <a:rPr lang="en-US" sz="1400" dirty="0">
                <a:solidFill>
                  <a:schemeClr val="accent6"/>
                </a:solidFill>
              </a:rPr>
              <a:t>パソコン・iPad・Chromebookのどれでも使えます</a:t>
            </a:r>
            <a:endParaRPr lang="en-US" sz="1700" dirty="0"/>
          </a:p>
        </p:txBody>
      </p:sp>
      <p:sp>
        <p:nvSpPr>
          <p:cNvPr id="6" name="番号-43"/>
          <p:cNvSpPr/>
          <p:nvPr/>
        </p:nvSpPr>
        <p:spPr>
          <a:xfrm>
            <a:off x="548640" y="26974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手順-44"/>
          <p:cNvSpPr txBox="1"/>
          <p:nvPr/>
        </p:nvSpPr>
        <p:spPr>
          <a:xfrm>
            <a:off x="1188720" y="2624328"/>
            <a:ext cx="539496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配られたURLを開く</a:t>
            </a:r>
            <a:endParaRPr lang="en-US" sz="1700" dirty="0"/>
          </a:p>
          <a:p>
            <a:pPr indent="0" marL="0">
              <a:spcAft>
                <a:spcPts val="200"/>
              </a:spcAft>
              <a:buNone/>
            </a:pPr>
            <a:r>
              <a:rPr lang="en-US" sz="1400" dirty="0">
                <a:solidFill>
                  <a:schemeClr val="accent6"/>
                </a:solidFill>
              </a:rPr>
              <a:t>ブックマークしておくと便利です</a:t>
            </a:r>
            <a:endParaRPr lang="en-US" sz="1700" dirty="0"/>
          </a:p>
        </p:txBody>
      </p:sp>
      <p:sp>
        <p:nvSpPr>
          <p:cNvPr id="9" name="番号-45"/>
          <p:cNvSpPr/>
          <p:nvPr/>
        </p:nvSpPr>
        <p:spPr>
          <a:xfrm>
            <a:off x="548640" y="3840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手順-46"/>
          <p:cNvSpPr txBox="1"/>
          <p:nvPr/>
        </p:nvSpPr>
        <p:spPr>
          <a:xfrm>
            <a:off x="1188720" y="3767328"/>
            <a:ext cx="539496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初回だけ出る画面で「許可」を押す</a:t>
            </a:r>
            <a:endParaRPr lang="en-US" sz="1700" dirty="0"/>
          </a:p>
          <a:p>
            <a:pPr indent="0" marL="0">
              <a:spcAft>
                <a:spcPts val="200"/>
              </a:spcAft>
              <a:buNone/>
            </a:pPr>
            <a:r>
              <a:rPr lang="en-US" sz="1400" dirty="0">
                <a:solidFill>
                  <a:schemeClr val="accent6"/>
                </a:solidFill>
              </a:rPr>
              <a:t>データの保存、メール送信、掲示用ページの共有に使います</a:t>
            </a:r>
            <a:endParaRPr lang="en-US" sz="1700" dirty="0"/>
          </a:p>
        </p:txBody>
      </p:sp>
      <p:sp>
        <p:nvSpPr>
          <p:cNvPr id="12" name="番号-47"/>
          <p:cNvSpPr/>
          <p:nvPr/>
        </p:nvSpPr>
        <p:spPr>
          <a:xfrm>
            <a:off x="548640" y="498348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手順-48"/>
          <p:cNvSpPr txBox="1"/>
          <p:nvPr/>
        </p:nvSpPr>
        <p:spPr>
          <a:xfrm>
            <a:off x="1188720" y="4910328"/>
            <a:ext cx="539496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「複数クラスで使う」を選ぶ</a:t>
            </a:r>
            <a:endParaRPr lang="en-US" sz="1700" dirty="0"/>
          </a:p>
          <a:p>
            <a:pPr indent="0" marL="0">
              <a:spcAft>
                <a:spcPts val="200"/>
              </a:spcAft>
              <a:buNone/>
            </a:pPr>
            <a:r>
              <a:rPr lang="en-US" sz="1400" dirty="0">
                <a:solidFill>
                  <a:schemeClr val="accent6"/>
                </a:solidFill>
              </a:rPr>
              <a:t>担任クラスだけなら「1クラスで使う」（あとで変更できます）</a:t>
            </a:r>
            <a:endParaRPr lang="en-US" sz="1700" dirty="0"/>
          </a:p>
        </p:txBody>
      </p:sp>
      <p:sp>
        <p:nvSpPr>
          <p:cNvPr id="15" name="カード-49"/>
          <p:cNvSpPr/>
          <p:nvPr/>
        </p:nvSpPr>
        <p:spPr>
          <a:xfrm>
            <a:off x="6949440" y="1463040"/>
            <a:ext cx="4663440" cy="2286000"/>
          </a:xfrm>
          <a:prstGeom prst="roundRect">
            <a:avLst>
              <a:gd name="adj" fmla="val 4800"/>
            </a:avLst>
          </a:prstGeom>
          <a:solidFill>
            <a:srgbClr val="FDF3E1"/>
          </a:solidFill>
          <a:ln w="12700">
            <a:solidFill>
              <a:srgbClr val="FDF3E1"/>
            </a:solidFill>
            <a:prstDash val="solid"/>
          </a:ln>
        </p:spPr>
      </p:sp>
      <p:sp>
        <p:nvSpPr>
          <p:cNvPr id="16" name="アイコンの円-50"/>
          <p:cNvSpPr/>
          <p:nvPr/>
        </p:nvSpPr>
        <p:spPr>
          <a:xfrm>
            <a:off x="7223760" y="1691640"/>
            <a:ext cx="548640" cy="548640"/>
          </a:xfrm>
          <a:prstGeom prst="ellipse">
            <a:avLst/>
          </a:prstGeom>
          <a:solidFill>
            <a:schemeClr val="accent2"/>
          </a:solidFill>
          <a:ln w="12700">
            <a:solidFill>
              <a:schemeClr val="accent2"/>
            </a:solidFill>
            <a:prstDash val="solid"/>
          </a:ln>
        </p:spPr>
      </p:sp>
      <p:pic>
        <p:nvPicPr>
          <p:cNvPr id="17" name="アイコン-51" descr="preencoded.png">    </p:cNvPr>
          <p:cNvPicPr>
            <a:picLocks noChangeAspect="1"/>
          </p:cNvPicPr>
          <p:nvPr/>
        </p:nvPicPr>
        <p:blipFill>
          <a:blip r:embed="rId1"/>
          <a:stretch>
            <a:fillRect/>
          </a:stretch>
        </p:blipFill>
        <p:spPr>
          <a:xfrm>
            <a:off x="7360920" y="1828800"/>
            <a:ext cx="274320" cy="274320"/>
          </a:xfrm>
          <a:prstGeom prst="rect">
            <a:avLst/>
          </a:prstGeom>
        </p:spPr>
      </p:pic>
      <p:sp>
        <p:nvSpPr>
          <p:cNvPr id="18" name="Text 15"/>
          <p:cNvSpPr txBox="1"/>
          <p:nvPr/>
        </p:nvSpPr>
        <p:spPr>
          <a:xfrm>
            <a:off x="7955280" y="1737360"/>
            <a:ext cx="3474720" cy="457200"/>
          </a:xfrm>
          <a:prstGeom prst="rect">
            <a:avLst/>
          </a:prstGeom>
          <a:noFill/>
          <a:ln/>
        </p:spPr>
        <p:txBody>
          <a:bodyPr wrap="square" lIns="0" tIns="0" rIns="0" bIns="0" rtlCol="0" anchor="ctr"/>
          <a:lstStyle/>
          <a:p>
            <a:pPr indent="0" marL="0">
              <a:buNone/>
            </a:pPr>
            <a:r>
              <a:rPr lang="en-US" sz="1700" b="1" dirty="0">
                <a:solidFill>
                  <a:schemeClr val="tx1"/>
                </a:solidFill>
              </a:rPr>
              <a:t>開けないときは</a:t>
            </a:r>
            <a:endParaRPr lang="en-US" sz="1700" dirty="0"/>
          </a:p>
        </p:txBody>
      </p:sp>
      <p:sp>
        <p:nvSpPr>
          <p:cNvPr id="19" name="Text 16"/>
          <p:cNvSpPr txBox="1"/>
          <p:nvPr/>
        </p:nvSpPr>
        <p:spPr>
          <a:xfrm>
            <a:off x="7223760" y="2331720"/>
            <a:ext cx="4206240" cy="1325880"/>
          </a:xfrm>
          <a:prstGeom prst="rect">
            <a:avLst/>
          </a:prstGeom>
          <a:noFill/>
          <a:ln/>
        </p:spPr>
        <p:txBody>
          <a:bodyPr wrap="square" lIns="0" tIns="0" rIns="0" bIns="0" rtlCol="0" anchor="t"/>
          <a:lstStyle/>
          <a:p>
            <a:pPr indent="0" marL="0">
              <a:buNone/>
            </a:pPr>
            <a:r>
              <a:rPr lang="en-US" sz="1400" dirty="0">
                <a:solidFill>
                  <a:schemeClr val="tx1"/>
                </a:solidFill>
              </a:rPr>
              <a:t>学校とプライベートなど、複数のGoogleアカウントでログインしていると開けないことがあります。シークレットウィンドウ（Ctrl+Shift+N）で、学校のアカウントだけでログインして開いてください。</a:t>
            </a:r>
            <a:endParaRPr lang="en-US" sz="1400" dirty="0"/>
          </a:p>
        </p:txBody>
      </p:sp>
      <p:sp>
        <p:nvSpPr>
          <p:cNvPr id="20" name="カード-52"/>
          <p:cNvSpPr/>
          <p:nvPr/>
        </p:nvSpPr>
        <p:spPr>
          <a:xfrm>
            <a:off x="6949440" y="3977640"/>
            <a:ext cx="4663440" cy="2103120"/>
          </a:xfrm>
          <a:prstGeom prst="roundRect">
            <a:avLst>
              <a:gd name="adj" fmla="val 5217"/>
            </a:avLst>
          </a:prstGeom>
          <a:solidFill>
            <a:schemeClr val="bg2"/>
          </a:solidFill>
          <a:ln w="12700">
            <a:solidFill>
              <a:schemeClr val="bg2"/>
            </a:solidFill>
            <a:prstDash val="solid"/>
          </a:ln>
        </p:spPr>
      </p:sp>
      <p:sp>
        <p:nvSpPr>
          <p:cNvPr id="21" name="アイコンの円-53"/>
          <p:cNvSpPr/>
          <p:nvPr/>
        </p:nvSpPr>
        <p:spPr>
          <a:xfrm>
            <a:off x="7223760" y="4206240"/>
            <a:ext cx="548640" cy="548640"/>
          </a:xfrm>
          <a:prstGeom prst="ellipse">
            <a:avLst/>
          </a:prstGeom>
          <a:solidFill>
            <a:schemeClr val="accent1"/>
          </a:solidFill>
          <a:ln w="12700">
            <a:solidFill>
              <a:schemeClr val="accent1"/>
            </a:solidFill>
            <a:prstDash val="solid"/>
          </a:ln>
        </p:spPr>
      </p:sp>
      <p:pic>
        <p:nvPicPr>
          <p:cNvPr id="22" name="アイコン-54" descr="preencoded.png">    </p:cNvPr>
          <p:cNvPicPr>
            <a:picLocks noChangeAspect="1"/>
          </p:cNvPicPr>
          <p:nvPr/>
        </p:nvPicPr>
        <p:blipFill>
          <a:blip r:embed="rId2"/>
          <a:stretch>
            <a:fillRect/>
          </a:stretch>
        </p:blipFill>
        <p:spPr>
          <a:xfrm>
            <a:off x="7360920" y="4343400"/>
            <a:ext cx="274320" cy="274320"/>
          </a:xfrm>
          <a:prstGeom prst="rect">
            <a:avLst/>
          </a:prstGeom>
        </p:spPr>
      </p:pic>
      <p:sp>
        <p:nvSpPr>
          <p:cNvPr id="23" name="Text 19"/>
          <p:cNvSpPr txBox="1"/>
          <p:nvPr/>
        </p:nvSpPr>
        <p:spPr>
          <a:xfrm>
            <a:off x="7955280" y="4251960"/>
            <a:ext cx="3474720" cy="457200"/>
          </a:xfrm>
          <a:prstGeom prst="rect">
            <a:avLst/>
          </a:prstGeom>
          <a:noFill/>
          <a:ln/>
        </p:spPr>
        <p:txBody>
          <a:bodyPr wrap="square" lIns="0" tIns="0" rIns="0" bIns="0" rtlCol="0" anchor="ctr"/>
          <a:lstStyle/>
          <a:p>
            <a:pPr indent="0" marL="0">
              <a:buNone/>
            </a:pPr>
            <a:r>
              <a:rPr lang="en-US" sz="1700" b="1" dirty="0">
                <a:solidFill>
                  <a:schemeClr val="tx1"/>
                </a:solidFill>
              </a:rPr>
              <a:t>許可の画面がまた出たら</a:t>
            </a:r>
            <a:endParaRPr lang="en-US" sz="1700" dirty="0"/>
          </a:p>
        </p:txBody>
      </p:sp>
      <p:sp>
        <p:nvSpPr>
          <p:cNvPr id="24" name="Text 20"/>
          <p:cNvSpPr txBox="1"/>
          <p:nvPr/>
        </p:nvSpPr>
        <p:spPr>
          <a:xfrm>
            <a:off x="7223760" y="4846320"/>
            <a:ext cx="4206240" cy="1097280"/>
          </a:xfrm>
          <a:prstGeom prst="rect">
            <a:avLst/>
          </a:prstGeom>
          <a:noFill/>
          <a:ln/>
        </p:spPr>
        <p:txBody>
          <a:bodyPr wrap="square" lIns="0" tIns="0" rIns="0" bIns="0" rtlCol="0" anchor="t"/>
          <a:lstStyle/>
          <a:p>
            <a:pPr indent="0" marL="0">
              <a:buNone/>
            </a:pPr>
            <a:r>
              <a:rPr lang="en-US" sz="1400" dirty="0">
                <a:solidFill>
                  <a:schemeClr val="tx1"/>
                </a:solidFill>
              </a:rPr>
              <a:t>新しい機能が加わると、許可の画面がもう一度出ることがあります。そのときも「許可」を押してください。</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準備①：クラスを登録する</a:t>
            </a:r>
            <a:endParaRPr lang="en-US" sz="3000" dirty="0"/>
          </a:p>
        </p:txBody>
      </p:sp>
      <p:sp>
        <p:nvSpPr>
          <p:cNvPr id="3" name="番号-55"/>
          <p:cNvSpPr/>
          <p:nvPr/>
        </p:nvSpPr>
        <p:spPr>
          <a:xfrm>
            <a:off x="548640" y="15544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手順-56"/>
          <p:cNvSpPr txBox="1"/>
          <p:nvPr/>
        </p:nvSpPr>
        <p:spPr>
          <a:xfrm>
            <a:off x="1188720" y="1481328"/>
            <a:ext cx="374904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「提出物」画面を開く</a:t>
            </a:r>
            <a:endParaRPr lang="en-US" sz="1700" dirty="0"/>
          </a:p>
          <a:p>
            <a:pPr indent="0" marL="0">
              <a:spcAft>
                <a:spcPts val="200"/>
              </a:spcAft>
              <a:buNone/>
            </a:pPr>
            <a:r>
              <a:rPr lang="en-US" sz="1400" dirty="0">
                <a:solidFill>
                  <a:schemeClr val="accent6"/>
                </a:solidFill>
              </a:rPr>
              <a:t>下にある「クラス設定」までスクロール</a:t>
            </a:r>
            <a:endParaRPr lang="en-US" sz="1700" dirty="0"/>
          </a:p>
        </p:txBody>
      </p:sp>
      <p:sp>
        <p:nvSpPr>
          <p:cNvPr id="6" name="番号-57"/>
          <p:cNvSpPr/>
          <p:nvPr/>
        </p:nvSpPr>
        <p:spPr>
          <a:xfrm>
            <a:off x="548640" y="26974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手順-58"/>
          <p:cNvSpPr txBox="1"/>
          <p:nvPr/>
        </p:nvSpPr>
        <p:spPr>
          <a:xfrm>
            <a:off x="1188720" y="2624328"/>
            <a:ext cx="374904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クラス名と人数を入れる</a:t>
            </a:r>
            <a:endParaRPr lang="en-US" sz="1700" dirty="0"/>
          </a:p>
          <a:p>
            <a:pPr indent="0" marL="0">
              <a:spcAft>
                <a:spcPts val="200"/>
              </a:spcAft>
              <a:buNone/>
            </a:pPr>
            <a:r>
              <a:rPr lang="en-US" sz="1400" dirty="0">
                <a:solidFill>
                  <a:schemeClr val="accent6"/>
                </a:solidFill>
              </a:rPr>
              <a:t>「＋ クラスを追加」で増やせます。最大10クラス・1クラス45人</a:t>
            </a:r>
            <a:endParaRPr lang="en-US" sz="1700" dirty="0"/>
          </a:p>
        </p:txBody>
      </p:sp>
      <p:sp>
        <p:nvSpPr>
          <p:cNvPr id="9" name="番号-59"/>
          <p:cNvSpPr/>
          <p:nvPr/>
        </p:nvSpPr>
        <p:spPr>
          <a:xfrm>
            <a:off x="548640" y="3840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手順-60"/>
          <p:cNvSpPr txBox="1"/>
          <p:nvPr/>
        </p:nvSpPr>
        <p:spPr>
          <a:xfrm>
            <a:off x="1188720" y="3767328"/>
            <a:ext cx="374904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名前・メールは任意</a:t>
            </a:r>
            <a:endParaRPr lang="en-US" sz="1700" dirty="0"/>
          </a:p>
          <a:p>
            <a:pPr indent="0" marL="0">
              <a:spcAft>
                <a:spcPts val="200"/>
              </a:spcAft>
              <a:buNone/>
            </a:pPr>
            <a:r>
              <a:rPr lang="en-US" sz="1400" dirty="0">
                <a:solidFill>
                  <a:schemeClr val="accent6"/>
                </a:solidFill>
              </a:rPr>
              <a:t>出席番号だけでも全部の機能が使えます</a:t>
            </a:r>
            <a:endParaRPr lang="en-US" sz="1700" dirty="0"/>
          </a:p>
        </p:txBody>
      </p:sp>
      <p:sp>
        <p:nvSpPr>
          <p:cNvPr id="12" name="番号-61"/>
          <p:cNvSpPr/>
          <p:nvPr/>
        </p:nvSpPr>
        <p:spPr>
          <a:xfrm>
            <a:off x="548640" y="498348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手順-62"/>
          <p:cNvSpPr txBox="1"/>
          <p:nvPr/>
        </p:nvSpPr>
        <p:spPr>
          <a:xfrm>
            <a:off x="1188720" y="4910328"/>
            <a:ext cx="374904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「クラス設定を保存」を押す</a:t>
            </a:r>
            <a:endParaRPr lang="en-US" sz="1700" dirty="0"/>
          </a:p>
          <a:p>
            <a:pPr indent="0" marL="0">
              <a:spcAft>
                <a:spcPts val="200"/>
              </a:spcAft>
              <a:buNone/>
            </a:pPr>
            <a:r>
              <a:rPr lang="en-US" sz="1400" dirty="0">
                <a:solidFill>
                  <a:schemeClr val="accent6"/>
                </a:solidFill>
              </a:rPr>
              <a:t>「1クラスで使う／複数クラスで使う」もここで切り替え</a:t>
            </a:r>
            <a:endParaRPr lang="en-US" sz="1700" dirty="0"/>
          </a:p>
        </p:txBody>
      </p:sp>
      <p:sp>
        <p:nvSpPr>
          <p:cNvPr id="15" name="画面の枠-63"/>
          <p:cNvSpPr/>
          <p:nvPr/>
        </p:nvSpPr>
        <p:spPr>
          <a:xfrm>
            <a:off x="5138928" y="1435608"/>
            <a:ext cx="6547104" cy="4169448"/>
          </a:xfrm>
          <a:prstGeom prst="roundRect">
            <a:avLst>
              <a:gd name="adj" fmla="val 1754"/>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16" name="画面-64" descr="shots2/class.png">    </p:cNvPr>
          <p:cNvPicPr>
            <a:picLocks noChangeAspect="1"/>
          </p:cNvPicPr>
          <p:nvPr/>
        </p:nvPicPr>
        <p:blipFill>
          <a:blip r:embed="rId1"/>
          <a:stretch>
            <a:fillRect/>
          </a:stretch>
        </p:blipFill>
        <p:spPr>
          <a:xfrm>
            <a:off x="5212080" y="1508760"/>
            <a:ext cx="6400800" cy="4023144"/>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準備②：名前・メールアドレスを登録する（任意）</a:t>
            </a:r>
            <a:endParaRPr lang="en-US" sz="3000" dirty="0"/>
          </a:p>
        </p:txBody>
      </p:sp>
      <p:sp>
        <p:nvSpPr>
          <p:cNvPr id="3" name="番号-65"/>
          <p:cNvSpPr/>
          <p:nvPr/>
        </p:nvSpPr>
        <p:spPr>
          <a:xfrm>
            <a:off x="548640" y="15544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手順-66"/>
          <p:cNvSpPr txBox="1"/>
          <p:nvPr/>
        </p:nvSpPr>
        <p:spPr>
          <a:xfrm>
            <a:off x="1188720" y="1481328"/>
            <a:ext cx="521208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「クラス設定」の「名前・メール」を押す</a:t>
            </a:r>
            <a:endParaRPr lang="en-US" sz="1700" dirty="0"/>
          </a:p>
          <a:p>
            <a:pPr indent="0" marL="0">
              <a:spcAft>
                <a:spcPts val="200"/>
              </a:spcAft>
              <a:buNone/>
            </a:pPr>
            <a:r>
              <a:rPr lang="en-US" sz="1400" dirty="0">
                <a:solidFill>
                  <a:schemeClr val="accent6"/>
                </a:solidFill>
              </a:rPr>
              <a:t>入力欄が開きます</a:t>
            </a:r>
            <a:endParaRPr lang="en-US" sz="1700" dirty="0"/>
          </a:p>
        </p:txBody>
      </p:sp>
      <p:sp>
        <p:nvSpPr>
          <p:cNvPr id="6" name="番号-67"/>
          <p:cNvSpPr/>
          <p:nvPr/>
        </p:nvSpPr>
        <p:spPr>
          <a:xfrm>
            <a:off x="548640" y="26974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手順-68"/>
          <p:cNvSpPr txBox="1"/>
          <p:nvPr/>
        </p:nvSpPr>
        <p:spPr>
          <a:xfrm>
            <a:off x="1188720" y="2624328"/>
            <a:ext cx="521208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1行に1人、出席番号の順に入れる</a:t>
            </a:r>
            <a:endParaRPr lang="en-US" sz="1700" dirty="0"/>
          </a:p>
          <a:p>
            <a:pPr indent="0" marL="0">
              <a:spcAft>
                <a:spcPts val="200"/>
              </a:spcAft>
              <a:buNone/>
            </a:pPr>
            <a:r>
              <a:rPr lang="en-US" sz="1400" dirty="0">
                <a:solidFill>
                  <a:schemeClr val="accent6"/>
                </a:solidFill>
              </a:rPr>
              <a:t>1行目が1番、2行目が2番…として扱われます</a:t>
            </a:r>
            <a:endParaRPr lang="en-US" sz="1700" dirty="0"/>
          </a:p>
        </p:txBody>
      </p:sp>
      <p:sp>
        <p:nvSpPr>
          <p:cNvPr id="9" name="番号-69"/>
          <p:cNvSpPr/>
          <p:nvPr/>
        </p:nvSpPr>
        <p:spPr>
          <a:xfrm>
            <a:off x="548640" y="3840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手順-70"/>
          <p:cNvSpPr txBox="1"/>
          <p:nvPr/>
        </p:nvSpPr>
        <p:spPr>
          <a:xfrm>
            <a:off x="1188720" y="3767328"/>
            <a:ext cx="521208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欠番やアドレスのない生徒は空行にする</a:t>
            </a:r>
            <a:endParaRPr lang="en-US" sz="1700" dirty="0"/>
          </a:p>
          <a:p>
            <a:pPr indent="0" marL="0">
              <a:spcAft>
                <a:spcPts val="200"/>
              </a:spcAft>
              <a:buNone/>
            </a:pPr>
            <a:r>
              <a:rPr lang="en-US" sz="1400" dirty="0">
                <a:solidFill>
                  <a:schemeClr val="accent6"/>
                </a:solidFill>
              </a:rPr>
              <a:t>行がずれないように注意</a:t>
            </a:r>
            <a:endParaRPr lang="en-US" sz="1700" dirty="0"/>
          </a:p>
        </p:txBody>
      </p:sp>
      <p:sp>
        <p:nvSpPr>
          <p:cNvPr id="12" name="番号-71"/>
          <p:cNvSpPr/>
          <p:nvPr/>
        </p:nvSpPr>
        <p:spPr>
          <a:xfrm>
            <a:off x="548640" y="498348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手順-72"/>
          <p:cNvSpPr txBox="1"/>
          <p:nvPr/>
        </p:nvSpPr>
        <p:spPr>
          <a:xfrm>
            <a:off x="1188720" y="4910328"/>
            <a:ext cx="521208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「クラス設定を保存」を押す</a:t>
            </a:r>
            <a:endParaRPr lang="en-US" sz="1700" dirty="0"/>
          </a:p>
          <a:p>
            <a:pPr indent="0" marL="0">
              <a:spcAft>
                <a:spcPts val="200"/>
              </a:spcAft>
              <a:buNone/>
            </a:pPr>
            <a:r>
              <a:rPr lang="en-US" sz="1400" dirty="0">
                <a:solidFill>
                  <a:schemeClr val="accent6"/>
                </a:solidFill>
              </a:rPr>
              <a:t>ボタンが「メール○人」になれば登録完了</a:t>
            </a:r>
            <a:endParaRPr lang="en-US" sz="1700" dirty="0"/>
          </a:p>
        </p:txBody>
      </p:sp>
      <p:sp>
        <p:nvSpPr>
          <p:cNvPr id="15" name="Text 13"/>
          <p:cNvSpPr txBox="1"/>
          <p:nvPr/>
        </p:nvSpPr>
        <p:spPr>
          <a:xfrm>
            <a:off x="6858000" y="1508760"/>
            <a:ext cx="4754880" cy="411480"/>
          </a:xfrm>
          <a:prstGeom prst="rect">
            <a:avLst/>
          </a:prstGeom>
          <a:noFill/>
          <a:ln/>
        </p:spPr>
        <p:txBody>
          <a:bodyPr wrap="square" lIns="0" tIns="0" rIns="0" bIns="0" rtlCol="0" anchor="ctr"/>
          <a:lstStyle/>
          <a:p>
            <a:pPr indent="0" marL="0">
              <a:buNone/>
            </a:pPr>
            <a:r>
              <a:rPr lang="en-US" sz="1700" b="1" dirty="0">
                <a:solidFill>
                  <a:schemeClr val="tx1"/>
                </a:solidFill>
              </a:rPr>
              <a:t>入力のしかた（どれでもOK）</a:t>
            </a:r>
            <a:endParaRPr lang="en-US" sz="1700" dirty="0"/>
          </a:p>
        </p:txBody>
      </p:sp>
      <p:sp>
        <p:nvSpPr>
          <p:cNvPr id="16" name="カード-73"/>
          <p:cNvSpPr/>
          <p:nvPr/>
        </p:nvSpPr>
        <p:spPr>
          <a:xfrm>
            <a:off x="6858000" y="2057400"/>
            <a:ext cx="4754880" cy="1143000"/>
          </a:xfrm>
          <a:prstGeom prst="roundRect">
            <a:avLst>
              <a:gd name="adj" fmla="val 9600"/>
            </a:avLst>
          </a:prstGeom>
          <a:solidFill>
            <a:schemeClr val="bg2"/>
          </a:solidFill>
          <a:ln w="12700">
            <a:solidFill>
              <a:schemeClr val="bg2"/>
            </a:solidFill>
            <a:prstDash val="solid"/>
          </a:ln>
        </p:spPr>
      </p:sp>
      <p:sp>
        <p:nvSpPr>
          <p:cNvPr id="17" name="Text 15"/>
          <p:cNvSpPr txBox="1"/>
          <p:nvPr/>
        </p:nvSpPr>
        <p:spPr>
          <a:xfrm>
            <a:off x="7086600" y="2167128"/>
            <a:ext cx="4389120" cy="914400"/>
          </a:xfrm>
          <a:prstGeom prst="rect">
            <a:avLst/>
          </a:prstGeom>
          <a:noFill/>
          <a:ln/>
        </p:spPr>
        <p:txBody>
          <a:bodyPr wrap="square" lIns="0" tIns="0" rIns="0" bIns="0" rtlCol="0" anchor="ctr"/>
          <a:lstStyle/>
          <a:p>
            <a:pPr indent="0" marL="0">
              <a:spcAft>
                <a:spcPts val="400"/>
              </a:spcAft>
              <a:buNone/>
            </a:pPr>
            <a:r>
              <a:rPr lang="en-US" sz="1300" dirty="0">
                <a:solidFill>
                  <a:schemeClr val="accent6"/>
                </a:solidFill>
              </a:rPr>
              <a:t>名前とアドレス（間はスペース）</a:t>
            </a:r>
            <a:endParaRPr lang="en-US" sz="1300" dirty="0"/>
          </a:p>
          <a:p>
            <a:pPr indent="0" marL="0">
              <a:spcAft>
                <a:spcPts val="400"/>
              </a:spcAft>
              <a:buNone/>
            </a:pPr>
            <a:r>
              <a:rPr lang="en-US" sz="1600" b="1" dirty="0">
                <a:solidFill>
                  <a:schemeClr val="tx2"/>
                </a:solidFill>
              </a:rPr>
              <a:t>青木 太郎 aoki@○○.ed.jp</a:t>
            </a:r>
            <a:endParaRPr lang="en-US" sz="1300" dirty="0"/>
          </a:p>
        </p:txBody>
      </p:sp>
      <p:sp>
        <p:nvSpPr>
          <p:cNvPr id="18" name="カード-74"/>
          <p:cNvSpPr/>
          <p:nvPr/>
        </p:nvSpPr>
        <p:spPr>
          <a:xfrm>
            <a:off x="6858000" y="3383280"/>
            <a:ext cx="4754880" cy="1143000"/>
          </a:xfrm>
          <a:prstGeom prst="roundRect">
            <a:avLst>
              <a:gd name="adj" fmla="val 9600"/>
            </a:avLst>
          </a:prstGeom>
          <a:solidFill>
            <a:schemeClr val="bg2"/>
          </a:solidFill>
          <a:ln w="12700">
            <a:solidFill>
              <a:schemeClr val="bg2"/>
            </a:solidFill>
            <a:prstDash val="solid"/>
          </a:ln>
        </p:spPr>
      </p:sp>
      <p:sp>
        <p:nvSpPr>
          <p:cNvPr id="19" name="Text 17"/>
          <p:cNvSpPr txBox="1"/>
          <p:nvPr/>
        </p:nvSpPr>
        <p:spPr>
          <a:xfrm>
            <a:off x="7086600" y="3493008"/>
            <a:ext cx="4389120" cy="914400"/>
          </a:xfrm>
          <a:prstGeom prst="rect">
            <a:avLst/>
          </a:prstGeom>
          <a:noFill/>
          <a:ln/>
        </p:spPr>
        <p:txBody>
          <a:bodyPr wrap="square" lIns="0" tIns="0" rIns="0" bIns="0" rtlCol="0" anchor="ctr"/>
          <a:lstStyle/>
          <a:p>
            <a:pPr indent="0" marL="0">
              <a:spcAft>
                <a:spcPts val="400"/>
              </a:spcAft>
              <a:buNone/>
            </a:pPr>
            <a:r>
              <a:rPr lang="en-US" sz="1300" dirty="0">
                <a:solidFill>
                  <a:schemeClr val="accent6"/>
                </a:solidFill>
              </a:rPr>
              <a:t>アドレスだけ</a:t>
            </a:r>
            <a:endParaRPr lang="en-US" sz="1300" dirty="0"/>
          </a:p>
          <a:p>
            <a:pPr indent="0" marL="0">
              <a:spcAft>
                <a:spcPts val="400"/>
              </a:spcAft>
              <a:buNone/>
            </a:pPr>
            <a:r>
              <a:rPr lang="en-US" sz="1600" b="1" dirty="0">
                <a:solidFill>
                  <a:schemeClr val="tx2"/>
                </a:solidFill>
              </a:rPr>
              <a:t>aoki@○○.ed.jp</a:t>
            </a:r>
            <a:endParaRPr lang="en-US" sz="1300" dirty="0"/>
          </a:p>
        </p:txBody>
      </p:sp>
      <p:sp>
        <p:nvSpPr>
          <p:cNvPr id="20" name="カード-75"/>
          <p:cNvSpPr/>
          <p:nvPr/>
        </p:nvSpPr>
        <p:spPr>
          <a:xfrm>
            <a:off x="6858000" y="4709160"/>
            <a:ext cx="4754880" cy="1143000"/>
          </a:xfrm>
          <a:prstGeom prst="roundRect">
            <a:avLst>
              <a:gd name="adj" fmla="val 9600"/>
            </a:avLst>
          </a:prstGeom>
          <a:solidFill>
            <a:schemeClr val="bg2"/>
          </a:solidFill>
          <a:ln w="12700">
            <a:solidFill>
              <a:schemeClr val="bg2"/>
            </a:solidFill>
            <a:prstDash val="solid"/>
          </a:ln>
        </p:spPr>
      </p:sp>
      <p:sp>
        <p:nvSpPr>
          <p:cNvPr id="21" name="Text 19"/>
          <p:cNvSpPr txBox="1"/>
          <p:nvPr/>
        </p:nvSpPr>
        <p:spPr>
          <a:xfrm>
            <a:off x="7086600" y="4818888"/>
            <a:ext cx="4389120" cy="914400"/>
          </a:xfrm>
          <a:prstGeom prst="rect">
            <a:avLst/>
          </a:prstGeom>
          <a:noFill/>
          <a:ln/>
        </p:spPr>
        <p:txBody>
          <a:bodyPr wrap="square" lIns="0" tIns="0" rIns="0" bIns="0" rtlCol="0" anchor="ctr"/>
          <a:lstStyle/>
          <a:p>
            <a:pPr indent="0" marL="0">
              <a:spcAft>
                <a:spcPts val="400"/>
              </a:spcAft>
              <a:buNone/>
            </a:pPr>
            <a:r>
              <a:rPr lang="en-US" sz="1300" dirty="0">
                <a:solidFill>
                  <a:schemeClr val="accent6"/>
                </a:solidFill>
              </a:rPr>
              <a:t>Excelの「番号・氏名・メール」の列</a:t>
            </a:r>
            <a:endParaRPr lang="en-US" sz="1300" dirty="0"/>
          </a:p>
          <a:p>
            <a:pPr indent="0" marL="0">
              <a:spcAft>
                <a:spcPts val="400"/>
              </a:spcAft>
              <a:buNone/>
            </a:pPr>
            <a:r>
              <a:rPr lang="en-US" sz="1600" b="1" dirty="0">
                <a:solidFill>
                  <a:schemeClr val="tx2"/>
                </a:solidFill>
              </a:rPr>
              <a:t>コピーして、そのまま貼り付け</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準備③：提出物を登録する</a:t>
            </a:r>
            <a:endParaRPr lang="en-US" sz="3000" dirty="0"/>
          </a:p>
        </p:txBody>
      </p:sp>
      <p:sp>
        <p:nvSpPr>
          <p:cNvPr id="3" name="画面の枠-76"/>
          <p:cNvSpPr/>
          <p:nvPr/>
        </p:nvSpPr>
        <p:spPr>
          <a:xfrm>
            <a:off x="566928" y="1435608"/>
            <a:ext cx="6912864" cy="3641296"/>
          </a:xfrm>
          <a:prstGeom prst="roundRect">
            <a:avLst>
              <a:gd name="adj" fmla="val 2009"/>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77" descr="shots2/taskform.png">    </p:cNvPr>
          <p:cNvPicPr>
            <a:picLocks noChangeAspect="1"/>
          </p:cNvPicPr>
          <p:nvPr/>
        </p:nvPicPr>
        <p:blipFill>
          <a:blip r:embed="rId1"/>
          <a:stretch>
            <a:fillRect/>
          </a:stretch>
        </p:blipFill>
        <p:spPr>
          <a:xfrm>
            <a:off x="640080" y="1508760"/>
            <a:ext cx="6766560" cy="3494992"/>
          </a:xfrm>
          <a:prstGeom prst="rect">
            <a:avLst/>
          </a:prstGeom>
        </p:spPr>
      </p:pic>
      <p:sp>
        <p:nvSpPr>
          <p:cNvPr id="5" name="番号-78"/>
          <p:cNvSpPr/>
          <p:nvPr/>
        </p:nvSpPr>
        <p:spPr>
          <a:xfrm>
            <a:off x="7863840" y="155448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8638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手順-79"/>
          <p:cNvSpPr txBox="1"/>
          <p:nvPr/>
        </p:nvSpPr>
        <p:spPr>
          <a:xfrm>
            <a:off x="8503920" y="1481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 追加」を押す</a:t>
            </a:r>
            <a:endParaRPr lang="en-US" sz="1700" dirty="0"/>
          </a:p>
          <a:p>
            <a:pPr indent="0" marL="0">
              <a:spcAft>
                <a:spcPts val="200"/>
              </a:spcAft>
              <a:buNone/>
            </a:pPr>
            <a:r>
              <a:rPr lang="en-US" sz="1400" dirty="0">
                <a:solidFill>
                  <a:schemeClr val="accent6"/>
                </a:solidFill>
              </a:rPr>
              <a:t>「提出物」画面の上にあります</a:t>
            </a:r>
            <a:endParaRPr lang="en-US" sz="1700" dirty="0"/>
          </a:p>
        </p:txBody>
      </p:sp>
      <p:sp>
        <p:nvSpPr>
          <p:cNvPr id="8" name="番号-80"/>
          <p:cNvSpPr/>
          <p:nvPr/>
        </p:nvSpPr>
        <p:spPr>
          <a:xfrm>
            <a:off x="7863840" y="269748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78638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手順-81"/>
          <p:cNvSpPr txBox="1"/>
          <p:nvPr/>
        </p:nvSpPr>
        <p:spPr>
          <a:xfrm>
            <a:off x="8503920" y="2624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提出物名と対象クラスを選ぶ</a:t>
            </a:r>
            <a:endParaRPr lang="en-US" sz="1700" dirty="0"/>
          </a:p>
          <a:p>
            <a:pPr indent="0" marL="0">
              <a:spcAft>
                <a:spcPts val="200"/>
              </a:spcAft>
              <a:buNone/>
            </a:pPr>
            <a:r>
              <a:rPr lang="en-US" sz="1400" dirty="0">
                <a:solidFill>
                  <a:schemeClr val="accent6"/>
                </a:solidFill>
              </a:rPr>
              <a:t>名前は候補から選べます。クラスは複数選択できます</a:t>
            </a:r>
            <a:endParaRPr lang="en-US" sz="1700" dirty="0"/>
          </a:p>
        </p:txBody>
      </p:sp>
      <p:sp>
        <p:nvSpPr>
          <p:cNvPr id="11" name="番号-82"/>
          <p:cNvSpPr/>
          <p:nvPr/>
        </p:nvSpPr>
        <p:spPr>
          <a:xfrm>
            <a:off x="7863840" y="384048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78638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手順-83"/>
          <p:cNvSpPr txBox="1"/>
          <p:nvPr/>
        </p:nvSpPr>
        <p:spPr>
          <a:xfrm>
            <a:off x="8503920" y="3767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伝えた日・締切（任意）</a:t>
            </a:r>
            <a:endParaRPr lang="en-US" sz="1700" dirty="0"/>
          </a:p>
          <a:p>
            <a:pPr indent="0" marL="0">
              <a:spcAft>
                <a:spcPts val="200"/>
              </a:spcAft>
              <a:buNone/>
            </a:pPr>
            <a:r>
              <a:rPr lang="en-US" sz="1400" dirty="0">
                <a:solidFill>
                  <a:schemeClr val="accent6"/>
                </a:solidFill>
              </a:rPr>
              <a:t>締切を入れると「今日締切」「締切超過」が分かります</a:t>
            </a:r>
            <a:endParaRPr lang="en-US" sz="1700" dirty="0"/>
          </a:p>
        </p:txBody>
      </p:sp>
      <p:sp>
        <p:nvSpPr>
          <p:cNvPr id="14" name="番号-84"/>
          <p:cNvSpPr/>
          <p:nvPr/>
        </p:nvSpPr>
        <p:spPr>
          <a:xfrm>
            <a:off x="7863840" y="4983480"/>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78638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手順-85"/>
          <p:cNvSpPr txBox="1"/>
          <p:nvPr/>
        </p:nvSpPr>
        <p:spPr>
          <a:xfrm>
            <a:off x="8503920" y="4910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あとから「編集」「削除」</a:t>
            </a:r>
            <a:endParaRPr lang="en-US" sz="1700" dirty="0"/>
          </a:p>
          <a:p>
            <a:pPr indent="0" marL="0">
              <a:spcAft>
                <a:spcPts val="200"/>
              </a:spcAft>
              <a:buNone/>
            </a:pPr>
            <a:r>
              <a:rPr lang="en-US" sz="1400" dirty="0">
                <a:solidFill>
                  <a:schemeClr val="accent6"/>
                </a:solidFill>
              </a:rPr>
              <a:t>一覧の右のボタンで、名前・締切・対象クラスを直せます</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チェック入力：提出した生徒の番号を押す</a:t>
            </a:r>
            <a:endParaRPr lang="en-US" sz="3000" dirty="0"/>
          </a:p>
        </p:txBody>
      </p:sp>
      <p:sp>
        <p:nvSpPr>
          <p:cNvPr id="3" name="画面の枠-86"/>
          <p:cNvSpPr/>
          <p:nvPr/>
        </p:nvSpPr>
        <p:spPr>
          <a:xfrm>
            <a:off x="566928" y="1435608"/>
            <a:ext cx="5244998" cy="4809744"/>
          </a:xfrm>
          <a:prstGeom prst="roundRect">
            <a:avLst>
              <a:gd name="adj" fmla="val 1521"/>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87" descr="shots2/check.png">    </p:cNvPr>
          <p:cNvPicPr>
            <a:picLocks noChangeAspect="1"/>
          </p:cNvPicPr>
          <p:nvPr/>
        </p:nvPicPr>
        <p:blipFill>
          <a:blip r:embed="rId1"/>
          <a:stretch>
            <a:fillRect/>
          </a:stretch>
        </p:blipFill>
        <p:spPr>
          <a:xfrm>
            <a:off x="640080" y="1508760"/>
            <a:ext cx="5098694" cy="4663440"/>
          </a:xfrm>
          <a:prstGeom prst="rect">
            <a:avLst/>
          </a:prstGeom>
        </p:spPr>
      </p:pic>
      <p:sp>
        <p:nvSpPr>
          <p:cNvPr id="5" name="カード-88"/>
          <p:cNvSpPr/>
          <p:nvPr/>
        </p:nvSpPr>
        <p:spPr>
          <a:xfrm>
            <a:off x="6241694" y="1463040"/>
            <a:ext cx="5371186" cy="1143000"/>
          </a:xfrm>
          <a:prstGeom prst="roundRect">
            <a:avLst>
              <a:gd name="adj" fmla="val 9600"/>
            </a:avLst>
          </a:prstGeom>
          <a:solidFill>
            <a:schemeClr val="bg2"/>
          </a:solidFill>
          <a:ln w="12700">
            <a:solidFill>
              <a:schemeClr val="bg2"/>
            </a:solidFill>
            <a:prstDash val="solid"/>
          </a:ln>
        </p:spPr>
      </p:sp>
      <p:sp>
        <p:nvSpPr>
          <p:cNvPr id="6" name="説明-89"/>
          <p:cNvSpPr txBox="1"/>
          <p:nvPr/>
        </p:nvSpPr>
        <p:spPr>
          <a:xfrm>
            <a:off x="6470294" y="1600200"/>
            <a:ext cx="4913986" cy="8686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マスを押す</a:t>
            </a:r>
            <a:endParaRPr lang="en-US" sz="1700" dirty="0"/>
          </a:p>
          <a:p>
            <a:pPr indent="0" marL="0">
              <a:spcAft>
                <a:spcPts val="400"/>
              </a:spcAft>
              <a:buNone/>
            </a:pPr>
            <a:r>
              <a:rPr lang="en-US" sz="1400" dirty="0">
                <a:solidFill>
                  <a:schemeClr val="tx1"/>
                </a:solidFill>
              </a:rPr>
              <a:t>番号と提出物が交わるマスを押すと ✓。もう一度押すと外れます。赤いマスは締切超過の未提出。</a:t>
            </a:r>
            <a:endParaRPr lang="en-US" sz="1700" dirty="0"/>
          </a:p>
        </p:txBody>
      </p:sp>
      <p:sp>
        <p:nvSpPr>
          <p:cNvPr id="7" name="カード-90"/>
          <p:cNvSpPr/>
          <p:nvPr/>
        </p:nvSpPr>
        <p:spPr>
          <a:xfrm>
            <a:off x="6241694" y="2743200"/>
            <a:ext cx="5371186" cy="1143000"/>
          </a:xfrm>
          <a:prstGeom prst="roundRect">
            <a:avLst>
              <a:gd name="adj" fmla="val 9600"/>
            </a:avLst>
          </a:prstGeom>
          <a:solidFill>
            <a:schemeClr val="bg2"/>
          </a:solidFill>
          <a:ln w="12700">
            <a:solidFill>
              <a:schemeClr val="bg2"/>
            </a:solidFill>
            <a:prstDash val="solid"/>
          </a:ln>
        </p:spPr>
      </p:sp>
      <p:sp>
        <p:nvSpPr>
          <p:cNvPr id="8" name="説明-91"/>
          <p:cNvSpPr txBox="1"/>
          <p:nvPr/>
        </p:nvSpPr>
        <p:spPr>
          <a:xfrm>
            <a:off x="6470294" y="2880360"/>
            <a:ext cx="4913986" cy="8686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番号で入力（冊数が多いとき）</a:t>
            </a:r>
            <a:endParaRPr lang="en-US" sz="1700" dirty="0"/>
          </a:p>
          <a:p>
            <a:pPr indent="0" marL="0">
              <a:spcAft>
                <a:spcPts val="400"/>
              </a:spcAft>
              <a:buNone/>
            </a:pPr>
            <a:r>
              <a:rPr lang="en-US" sz="1400" dirty="0">
                <a:solidFill>
                  <a:schemeClr val="tx1"/>
                </a:solidFill>
              </a:rPr>
              <a:t>提出物を選び、番号を入れて Enter。続けて入力でき、残りの人数も出ます。</a:t>
            </a:r>
            <a:endParaRPr lang="en-US" sz="1700" dirty="0"/>
          </a:p>
        </p:txBody>
      </p:sp>
      <p:sp>
        <p:nvSpPr>
          <p:cNvPr id="9" name="カード-92"/>
          <p:cNvSpPr/>
          <p:nvPr/>
        </p:nvSpPr>
        <p:spPr>
          <a:xfrm>
            <a:off x="6241694" y="4023360"/>
            <a:ext cx="5371186" cy="914400"/>
          </a:xfrm>
          <a:prstGeom prst="roundRect">
            <a:avLst>
              <a:gd name="adj" fmla="val 12000"/>
            </a:avLst>
          </a:prstGeom>
          <a:solidFill>
            <a:schemeClr val="bg2"/>
          </a:solidFill>
          <a:ln w="12700">
            <a:solidFill>
              <a:schemeClr val="bg2"/>
            </a:solidFill>
            <a:prstDash val="solid"/>
          </a:ln>
        </p:spPr>
      </p:sp>
      <p:sp>
        <p:nvSpPr>
          <p:cNvPr id="10" name="説明-93"/>
          <p:cNvSpPr txBox="1"/>
          <p:nvPr/>
        </p:nvSpPr>
        <p:spPr>
          <a:xfrm>
            <a:off x="6470294" y="4160520"/>
            <a:ext cx="4913986" cy="6400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間違えたら「↶ 取り消し」</a:t>
            </a:r>
            <a:endParaRPr lang="en-US" sz="1700" dirty="0"/>
          </a:p>
          <a:p>
            <a:pPr indent="0" marL="0">
              <a:spcAft>
                <a:spcPts val="400"/>
              </a:spcAft>
              <a:buNone/>
            </a:pPr>
            <a:r>
              <a:rPr lang="en-US" sz="1400" dirty="0">
                <a:solidFill>
                  <a:schemeClr val="tx1"/>
                </a:solidFill>
              </a:rPr>
              <a:t>直前の操作を元に戻せます。</a:t>
            </a:r>
            <a:endParaRPr lang="en-US" sz="1700" dirty="0"/>
          </a:p>
        </p:txBody>
      </p:sp>
      <p:sp>
        <p:nvSpPr>
          <p:cNvPr id="11" name="カード-94"/>
          <p:cNvSpPr/>
          <p:nvPr/>
        </p:nvSpPr>
        <p:spPr>
          <a:xfrm>
            <a:off x="6241694" y="5074920"/>
            <a:ext cx="5371186" cy="1005840"/>
          </a:xfrm>
          <a:prstGeom prst="roundRect">
            <a:avLst>
              <a:gd name="adj" fmla="val 10909"/>
            </a:avLst>
          </a:prstGeom>
          <a:solidFill>
            <a:schemeClr val="bg2"/>
          </a:solidFill>
          <a:ln w="12700">
            <a:solidFill>
              <a:schemeClr val="bg2"/>
            </a:solidFill>
            <a:prstDash val="solid"/>
          </a:ln>
        </p:spPr>
      </p:sp>
      <p:sp>
        <p:nvSpPr>
          <p:cNvPr id="12" name="説明-95"/>
          <p:cNvSpPr txBox="1"/>
          <p:nvPr/>
        </p:nvSpPr>
        <p:spPr>
          <a:xfrm>
            <a:off x="6470294" y="5212080"/>
            <a:ext cx="4913986" cy="73152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表示を絞る</a:t>
            </a:r>
            <a:endParaRPr lang="en-US" sz="1700" dirty="0"/>
          </a:p>
          <a:p>
            <a:pPr indent="0" marL="0">
              <a:spcAft>
                <a:spcPts val="400"/>
              </a:spcAft>
              <a:buNone/>
            </a:pPr>
            <a:r>
              <a:rPr lang="en-US" sz="1400" dirty="0">
                <a:solidFill>
                  <a:schemeClr val="tx1"/>
                </a:solidFill>
              </a:rPr>
              <a:t>「完了した提出物を隠す」「未提出のある番号だけ」</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回収状況：どこを見ればよいかが分かる</a:t>
            </a:r>
            <a:endParaRPr lang="en-US" sz="3000" dirty="0"/>
          </a:p>
        </p:txBody>
      </p:sp>
      <p:sp>
        <p:nvSpPr>
          <p:cNvPr id="3" name="画面の枠-96"/>
          <p:cNvSpPr/>
          <p:nvPr/>
        </p:nvSpPr>
        <p:spPr>
          <a:xfrm>
            <a:off x="566928" y="1435608"/>
            <a:ext cx="7095744" cy="4218242"/>
          </a:xfrm>
          <a:prstGeom prst="roundRect">
            <a:avLst>
              <a:gd name="adj" fmla="val 1734"/>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97" descr="shots2/status.png">    </p:cNvPr>
          <p:cNvPicPr>
            <a:picLocks noChangeAspect="1"/>
          </p:cNvPicPr>
          <p:nvPr/>
        </p:nvPicPr>
        <p:blipFill>
          <a:blip r:embed="rId1"/>
          <a:stretch>
            <a:fillRect/>
          </a:stretch>
        </p:blipFill>
        <p:spPr>
          <a:xfrm>
            <a:off x="640080" y="1508760"/>
            <a:ext cx="6949440" cy="4071938"/>
          </a:xfrm>
          <a:prstGeom prst="rect">
            <a:avLst/>
          </a:prstGeom>
        </p:spPr>
      </p:pic>
      <p:sp>
        <p:nvSpPr>
          <p:cNvPr id="5" name="Text 2"/>
          <p:cNvSpPr txBox="1"/>
          <p:nvPr/>
        </p:nvSpPr>
        <p:spPr>
          <a:xfrm>
            <a:off x="8138160" y="1463040"/>
            <a:ext cx="3474720" cy="411480"/>
          </a:xfrm>
          <a:prstGeom prst="rect">
            <a:avLst/>
          </a:prstGeom>
          <a:noFill/>
          <a:ln/>
        </p:spPr>
        <p:txBody>
          <a:bodyPr wrap="square" lIns="0" tIns="0" rIns="0" bIns="0" rtlCol="0" anchor="ctr"/>
          <a:lstStyle/>
          <a:p>
            <a:pPr indent="0" marL="0">
              <a:buNone/>
            </a:pPr>
            <a:r>
              <a:rPr lang="en-US" sz="1700" b="1" dirty="0">
                <a:solidFill>
                  <a:schemeClr val="tx1"/>
                </a:solidFill>
              </a:rPr>
              <a:t>カードの色の意味</a:t>
            </a:r>
            <a:endParaRPr lang="en-US" sz="1700" dirty="0"/>
          </a:p>
        </p:txBody>
      </p:sp>
      <p:sp>
        <p:nvSpPr>
          <p:cNvPr id="6" name="色見本-98"/>
          <p:cNvSpPr/>
          <p:nvPr/>
        </p:nvSpPr>
        <p:spPr>
          <a:xfrm>
            <a:off x="8138160" y="2011680"/>
            <a:ext cx="1554480" cy="457200"/>
          </a:xfrm>
          <a:prstGeom prst="roundRect">
            <a:avLst>
              <a:gd name="adj" fmla="val 50000"/>
            </a:avLst>
          </a:prstGeom>
          <a:solidFill>
            <a:schemeClr val="accent3"/>
          </a:solidFill>
          <a:ln w="12700">
            <a:solidFill>
              <a:schemeClr val="accent3"/>
            </a:solidFill>
            <a:prstDash val="solid"/>
          </a:ln>
        </p:spPr>
      </p:sp>
      <p:sp>
        <p:nvSpPr>
          <p:cNvPr id="7" name="Text 4"/>
          <p:cNvSpPr txBox="1"/>
          <p:nvPr/>
        </p:nvSpPr>
        <p:spPr>
          <a:xfrm>
            <a:off x="8138160" y="201168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回収中</a:t>
            </a:r>
            <a:endParaRPr lang="en-US" sz="1300" dirty="0"/>
          </a:p>
        </p:txBody>
      </p:sp>
      <p:sp>
        <p:nvSpPr>
          <p:cNvPr id="8" name="Text 5"/>
          <p:cNvSpPr txBox="1"/>
          <p:nvPr/>
        </p:nvSpPr>
        <p:spPr>
          <a:xfrm>
            <a:off x="9829800" y="2011680"/>
            <a:ext cx="1828800" cy="457200"/>
          </a:xfrm>
          <a:prstGeom prst="rect">
            <a:avLst/>
          </a:prstGeom>
          <a:noFill/>
          <a:ln/>
        </p:spPr>
        <p:txBody>
          <a:bodyPr wrap="square" lIns="0" tIns="0" rIns="0" bIns="0" rtlCol="0" anchor="ctr"/>
          <a:lstStyle/>
          <a:p>
            <a:pPr indent="0" marL="0">
              <a:buNone/>
            </a:pPr>
            <a:r>
              <a:rPr lang="en-US" sz="1300" dirty="0">
                <a:solidFill>
                  <a:schemeClr val="tx1"/>
                </a:solidFill>
              </a:rPr>
              <a:t>まだ集めている途中</a:t>
            </a:r>
            <a:endParaRPr lang="en-US" sz="1300" dirty="0"/>
          </a:p>
        </p:txBody>
      </p:sp>
      <p:sp>
        <p:nvSpPr>
          <p:cNvPr id="9" name="色見本-99"/>
          <p:cNvSpPr/>
          <p:nvPr/>
        </p:nvSpPr>
        <p:spPr>
          <a:xfrm>
            <a:off x="8138160" y="2651760"/>
            <a:ext cx="1554480" cy="457200"/>
          </a:xfrm>
          <a:prstGeom prst="roundRect">
            <a:avLst>
              <a:gd name="adj" fmla="val 50000"/>
            </a:avLst>
          </a:prstGeom>
          <a:solidFill>
            <a:schemeClr val="accent2"/>
          </a:solidFill>
          <a:ln w="12700">
            <a:solidFill>
              <a:schemeClr val="accent2"/>
            </a:solidFill>
            <a:prstDash val="solid"/>
          </a:ln>
        </p:spPr>
      </p:sp>
      <p:sp>
        <p:nvSpPr>
          <p:cNvPr id="10" name="Text 7"/>
          <p:cNvSpPr txBox="1"/>
          <p:nvPr/>
        </p:nvSpPr>
        <p:spPr>
          <a:xfrm>
            <a:off x="8138160" y="265176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あと5人以下</a:t>
            </a:r>
            <a:endParaRPr lang="en-US" sz="1300" dirty="0"/>
          </a:p>
        </p:txBody>
      </p:sp>
      <p:sp>
        <p:nvSpPr>
          <p:cNvPr id="11" name="Text 8"/>
          <p:cNvSpPr txBox="1"/>
          <p:nvPr/>
        </p:nvSpPr>
        <p:spPr>
          <a:xfrm>
            <a:off x="9829800" y="2651760"/>
            <a:ext cx="1828800" cy="457200"/>
          </a:xfrm>
          <a:prstGeom prst="rect">
            <a:avLst/>
          </a:prstGeom>
          <a:noFill/>
          <a:ln/>
        </p:spPr>
        <p:txBody>
          <a:bodyPr wrap="square" lIns="0" tIns="0" rIns="0" bIns="0" rtlCol="0" anchor="ctr"/>
          <a:lstStyle/>
          <a:p>
            <a:pPr indent="0" marL="0">
              <a:buNone/>
            </a:pPr>
            <a:r>
              <a:rPr lang="en-US" sz="1300" dirty="0">
                <a:solidFill>
                  <a:schemeClr val="tx1"/>
                </a:solidFill>
              </a:rPr>
              <a:t>もう少しで全員</a:t>
            </a:r>
            <a:endParaRPr lang="en-US" sz="1300" dirty="0"/>
          </a:p>
        </p:txBody>
      </p:sp>
      <p:sp>
        <p:nvSpPr>
          <p:cNvPr id="12" name="色見本-100"/>
          <p:cNvSpPr/>
          <p:nvPr/>
        </p:nvSpPr>
        <p:spPr>
          <a:xfrm>
            <a:off x="8138160" y="3291840"/>
            <a:ext cx="1554480" cy="457200"/>
          </a:xfrm>
          <a:prstGeom prst="roundRect">
            <a:avLst>
              <a:gd name="adj" fmla="val 50000"/>
            </a:avLst>
          </a:prstGeom>
          <a:solidFill>
            <a:schemeClr val="accent4"/>
          </a:solidFill>
          <a:ln w="12700">
            <a:solidFill>
              <a:schemeClr val="accent4"/>
            </a:solidFill>
            <a:prstDash val="solid"/>
          </a:ln>
        </p:spPr>
      </p:sp>
      <p:sp>
        <p:nvSpPr>
          <p:cNvPr id="13" name="Text 10"/>
          <p:cNvSpPr txBox="1"/>
          <p:nvPr/>
        </p:nvSpPr>
        <p:spPr>
          <a:xfrm>
            <a:off x="8138160" y="329184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締切超過</a:t>
            </a:r>
            <a:endParaRPr lang="en-US" sz="1300" dirty="0"/>
          </a:p>
        </p:txBody>
      </p:sp>
      <p:sp>
        <p:nvSpPr>
          <p:cNvPr id="14" name="Text 11"/>
          <p:cNvSpPr txBox="1"/>
          <p:nvPr/>
        </p:nvSpPr>
        <p:spPr>
          <a:xfrm>
            <a:off x="9829800" y="3291840"/>
            <a:ext cx="1828800" cy="457200"/>
          </a:xfrm>
          <a:prstGeom prst="rect">
            <a:avLst/>
          </a:prstGeom>
          <a:noFill/>
          <a:ln/>
        </p:spPr>
        <p:txBody>
          <a:bodyPr wrap="square" lIns="0" tIns="0" rIns="0" bIns="0" rtlCol="0" anchor="ctr"/>
          <a:lstStyle/>
          <a:p>
            <a:pPr indent="0" marL="0">
              <a:buNone/>
            </a:pPr>
            <a:r>
              <a:rPr lang="en-US" sz="1300" dirty="0">
                <a:solidFill>
                  <a:schemeClr val="tx1"/>
                </a:solidFill>
              </a:rPr>
              <a:t>締切後も未提出がいる</a:t>
            </a:r>
            <a:endParaRPr lang="en-US" sz="1300" dirty="0"/>
          </a:p>
        </p:txBody>
      </p:sp>
      <p:sp>
        <p:nvSpPr>
          <p:cNvPr id="15" name="色見本-101"/>
          <p:cNvSpPr/>
          <p:nvPr/>
        </p:nvSpPr>
        <p:spPr>
          <a:xfrm>
            <a:off x="8138160" y="3931920"/>
            <a:ext cx="1554480" cy="457200"/>
          </a:xfrm>
          <a:prstGeom prst="roundRect">
            <a:avLst>
              <a:gd name="adj" fmla="val 50000"/>
            </a:avLst>
          </a:prstGeom>
          <a:solidFill>
            <a:schemeClr val="accent5"/>
          </a:solidFill>
          <a:ln w="12700">
            <a:solidFill>
              <a:schemeClr val="accent5"/>
            </a:solidFill>
            <a:prstDash val="solid"/>
          </a:ln>
        </p:spPr>
      </p:sp>
      <p:sp>
        <p:nvSpPr>
          <p:cNvPr id="16" name="Text 13"/>
          <p:cNvSpPr txBox="1"/>
          <p:nvPr/>
        </p:nvSpPr>
        <p:spPr>
          <a:xfrm>
            <a:off x="8138160" y="3931920"/>
            <a:ext cx="1554480" cy="457200"/>
          </a:xfrm>
          <a:prstGeom prst="rect">
            <a:avLst/>
          </a:prstGeom>
          <a:noFill/>
          <a:ln/>
        </p:spPr>
        <p:txBody>
          <a:bodyPr wrap="square" lIns="0" tIns="0" rIns="0" bIns="0" rtlCol="0" anchor="ctr"/>
          <a:lstStyle/>
          <a:p>
            <a:pPr algn="ctr" indent="0" marL="0">
              <a:buNone/>
            </a:pPr>
            <a:r>
              <a:rPr lang="en-US" sz="1300" b="1" dirty="0">
                <a:solidFill>
                  <a:schemeClr val="bg1"/>
                </a:solidFill>
              </a:rPr>
              <a:t>全員提出</a:t>
            </a:r>
            <a:endParaRPr lang="en-US" sz="1300" dirty="0"/>
          </a:p>
        </p:txBody>
      </p:sp>
      <p:sp>
        <p:nvSpPr>
          <p:cNvPr id="17" name="Text 14"/>
          <p:cNvSpPr txBox="1"/>
          <p:nvPr/>
        </p:nvSpPr>
        <p:spPr>
          <a:xfrm>
            <a:off x="9829800" y="3931920"/>
            <a:ext cx="1828800" cy="457200"/>
          </a:xfrm>
          <a:prstGeom prst="rect">
            <a:avLst/>
          </a:prstGeom>
          <a:noFill/>
          <a:ln/>
        </p:spPr>
        <p:txBody>
          <a:bodyPr wrap="square" lIns="0" tIns="0" rIns="0" bIns="0" rtlCol="0" anchor="ctr"/>
          <a:lstStyle/>
          <a:p>
            <a:pPr indent="0" marL="0">
              <a:buNone/>
            </a:pPr>
            <a:r>
              <a:rPr lang="en-US" sz="1300" dirty="0">
                <a:solidFill>
                  <a:schemeClr val="tx1"/>
                </a:solidFill>
              </a:rPr>
              <a:t>回収完了</a:t>
            </a:r>
            <a:endParaRPr lang="en-US" sz="1300" dirty="0"/>
          </a:p>
        </p:txBody>
      </p:sp>
      <p:sp>
        <p:nvSpPr>
          <p:cNvPr id="18" name="カード-102"/>
          <p:cNvSpPr/>
          <p:nvPr/>
        </p:nvSpPr>
        <p:spPr>
          <a:xfrm>
            <a:off x="8138160" y="4663440"/>
            <a:ext cx="3474720" cy="1417320"/>
          </a:xfrm>
          <a:prstGeom prst="roundRect">
            <a:avLst>
              <a:gd name="adj" fmla="val 7742"/>
            </a:avLst>
          </a:prstGeom>
          <a:solidFill>
            <a:schemeClr val="bg2"/>
          </a:solidFill>
          <a:ln w="12700">
            <a:solidFill>
              <a:schemeClr val="bg2"/>
            </a:solidFill>
            <a:prstDash val="solid"/>
          </a:ln>
        </p:spPr>
      </p:sp>
      <p:sp>
        <p:nvSpPr>
          <p:cNvPr id="19" name="Text 16"/>
          <p:cNvSpPr txBox="1"/>
          <p:nvPr/>
        </p:nvSpPr>
        <p:spPr>
          <a:xfrm>
            <a:off x="8321040" y="4754880"/>
            <a:ext cx="3108960" cy="1234440"/>
          </a:xfrm>
          <a:prstGeom prst="rect">
            <a:avLst/>
          </a:prstGeom>
          <a:noFill/>
          <a:ln/>
        </p:spPr>
        <p:txBody>
          <a:bodyPr wrap="square" lIns="0" tIns="0" rIns="0" bIns="0" rtlCol="0" anchor="ctr"/>
          <a:lstStyle/>
          <a:p>
            <a:pPr indent="0" marL="0">
              <a:buNone/>
            </a:pPr>
            <a:r>
              <a:rPr lang="en-US" sz="1300" dirty="0">
                <a:solidFill>
                  <a:schemeClr val="tx1"/>
                </a:solidFill>
              </a:rPr>
              <a:t>今日締切の提出物は一番上に。並べ替え（締切順・未提出が多い順など）、クラスの絞り込み、全員提出を隠すこともできます。カードを押すとチェック入力へ。</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声かけビュー：一人に、まとめて伝える</a:t>
            </a:r>
            <a:endParaRPr lang="en-US" sz="3000" dirty="0"/>
          </a:p>
        </p:txBody>
      </p:sp>
      <p:sp>
        <p:nvSpPr>
          <p:cNvPr id="3" name="画面の枠-103"/>
          <p:cNvSpPr/>
          <p:nvPr/>
        </p:nvSpPr>
        <p:spPr>
          <a:xfrm>
            <a:off x="566928" y="1435608"/>
            <a:ext cx="6729984" cy="977028"/>
          </a:xfrm>
          <a:prstGeom prst="roundRect">
            <a:avLst>
              <a:gd name="adj" fmla="val 7487"/>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04" descr="shots2/call_filter.png">    </p:cNvPr>
          <p:cNvPicPr>
            <a:picLocks noChangeAspect="1"/>
          </p:cNvPicPr>
          <p:nvPr/>
        </p:nvPicPr>
        <p:blipFill>
          <a:blip r:embed="rId1"/>
          <a:stretch>
            <a:fillRect/>
          </a:stretch>
        </p:blipFill>
        <p:spPr>
          <a:xfrm>
            <a:off x="640080" y="1508760"/>
            <a:ext cx="6583680" cy="830724"/>
          </a:xfrm>
          <a:prstGeom prst="rect">
            <a:avLst/>
          </a:prstGeom>
        </p:spPr>
      </p:pic>
      <p:sp>
        <p:nvSpPr>
          <p:cNvPr id="5" name="画面の枠-105"/>
          <p:cNvSpPr/>
          <p:nvPr/>
        </p:nvSpPr>
        <p:spPr>
          <a:xfrm>
            <a:off x="566928" y="2540652"/>
            <a:ext cx="6729984" cy="3251813"/>
          </a:xfrm>
          <a:prstGeom prst="roundRect">
            <a:avLst>
              <a:gd name="adj" fmla="val 2250"/>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6" name="画面-106" descr="shots2/call.png">    </p:cNvPr>
          <p:cNvPicPr>
            <a:picLocks noChangeAspect="1"/>
          </p:cNvPicPr>
          <p:nvPr/>
        </p:nvPicPr>
        <p:blipFill>
          <a:blip r:embed="rId2"/>
          <a:stretch>
            <a:fillRect/>
          </a:stretch>
        </p:blipFill>
        <p:spPr>
          <a:xfrm>
            <a:off x="640080" y="2613804"/>
            <a:ext cx="6583680" cy="3105509"/>
          </a:xfrm>
          <a:prstGeom prst="rect">
            <a:avLst/>
          </a:prstGeom>
        </p:spPr>
      </p:pic>
      <p:sp>
        <p:nvSpPr>
          <p:cNvPr id="7" name="カード-107"/>
          <p:cNvSpPr/>
          <p:nvPr/>
        </p:nvSpPr>
        <p:spPr>
          <a:xfrm>
            <a:off x="7772400" y="1463040"/>
            <a:ext cx="3840480" cy="1737360"/>
          </a:xfrm>
          <a:prstGeom prst="roundRect">
            <a:avLst>
              <a:gd name="adj" fmla="val 6316"/>
            </a:avLst>
          </a:prstGeom>
          <a:solidFill>
            <a:schemeClr val="bg2"/>
          </a:solidFill>
          <a:ln w="12700">
            <a:solidFill>
              <a:schemeClr val="bg2"/>
            </a:solidFill>
            <a:prstDash val="solid"/>
          </a:ln>
        </p:spPr>
      </p:sp>
      <p:sp>
        <p:nvSpPr>
          <p:cNvPr id="8" name="アイコンの円-108"/>
          <p:cNvSpPr/>
          <p:nvPr/>
        </p:nvSpPr>
        <p:spPr>
          <a:xfrm>
            <a:off x="8046720" y="1645920"/>
            <a:ext cx="548640" cy="548640"/>
          </a:xfrm>
          <a:prstGeom prst="ellipse">
            <a:avLst/>
          </a:prstGeom>
          <a:solidFill>
            <a:schemeClr val="accent1"/>
          </a:solidFill>
          <a:ln w="12700">
            <a:solidFill>
              <a:schemeClr val="accent1"/>
            </a:solidFill>
            <a:prstDash val="solid"/>
          </a:ln>
        </p:spPr>
      </p:sp>
      <p:pic>
        <p:nvPicPr>
          <p:cNvPr id="9" name="アイコン-109" descr="preencoded.png">    </p:cNvPr>
          <p:cNvPicPr>
            <a:picLocks noChangeAspect="1"/>
          </p:cNvPicPr>
          <p:nvPr/>
        </p:nvPicPr>
        <p:blipFill>
          <a:blip r:embed="rId3"/>
          <a:stretch>
            <a:fillRect/>
          </a:stretch>
        </p:blipFill>
        <p:spPr>
          <a:xfrm>
            <a:off x="8183880" y="1783080"/>
            <a:ext cx="274320" cy="274320"/>
          </a:xfrm>
          <a:prstGeom prst="rect">
            <a:avLst/>
          </a:prstGeom>
        </p:spPr>
      </p:pic>
      <p:sp>
        <p:nvSpPr>
          <p:cNvPr id="10" name="Text 5"/>
          <p:cNvSpPr txBox="1"/>
          <p:nvPr/>
        </p:nvSpPr>
        <p:spPr>
          <a:xfrm>
            <a:off x="8046720" y="2286000"/>
            <a:ext cx="3383280" cy="822960"/>
          </a:xfrm>
          <a:prstGeom prst="rect">
            <a:avLst/>
          </a:prstGeom>
          <a:noFill/>
          <a:ln/>
        </p:spPr>
        <p:txBody>
          <a:bodyPr wrap="square" lIns="0" tIns="0" rIns="0" bIns="0" rtlCol="0" anchor="t"/>
          <a:lstStyle/>
          <a:p>
            <a:pPr indent="0" marL="0">
              <a:buNone/>
            </a:pPr>
            <a:r>
              <a:rPr lang="en-US" sz="1500" i="1" dirty="0">
                <a:solidFill>
                  <a:schemeClr val="tx2"/>
                </a:solidFill>
              </a:rPr>
              <a:t>「9番さん、英作文と単語テスト直しを確認しよう」</a:t>
            </a:r>
            <a:endParaRPr lang="en-US" sz="1500" dirty="0"/>
          </a:p>
        </p:txBody>
      </p:sp>
      <p:sp>
        <p:nvSpPr>
          <p:cNvPr id="11" name="Text 6"/>
          <p:cNvSpPr txBox="1"/>
          <p:nvPr/>
        </p:nvSpPr>
        <p:spPr>
          <a:xfrm>
            <a:off x="7772400" y="3429000"/>
            <a:ext cx="384048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未提出を生徒ごとにまとめて表示</a:t>
            </a:r>
            <a:endParaRPr lang="en-US" sz="1500" dirty="0"/>
          </a:p>
          <a:p>
            <a:pPr marL="342900" indent="-342900">
              <a:spcAft>
                <a:spcPts val="800"/>
              </a:spcAft>
              <a:buSzPct val="100000"/>
              <a:buChar char="•"/>
            </a:pPr>
            <a:r>
              <a:rPr lang="en-US" sz="1500" dirty="0">
                <a:solidFill>
                  <a:schemeClr val="tx1"/>
                </a:solidFill>
              </a:rPr>
              <a:t>「コピー」でそのまま連絡に使える</a:t>
            </a:r>
            <a:endParaRPr lang="en-US" sz="1500" dirty="0"/>
          </a:p>
          <a:p>
            <a:pPr marL="342900" indent="-342900">
              <a:spcAft>
                <a:spcPts val="800"/>
              </a:spcAft>
              <a:buSzPct val="100000"/>
              <a:buChar char="•"/>
            </a:pPr>
            <a:r>
              <a:rPr lang="en-US" sz="1500" dirty="0">
                <a:solidFill>
                  <a:schemeClr val="tx1"/>
                </a:solidFill>
              </a:rPr>
              <a:t>「締切を過ぎた提出物だけ」に絞れる</a:t>
            </a:r>
            <a:endParaRPr lang="en-US" sz="1500" dirty="0"/>
          </a:p>
          <a:p>
            <a:pPr marL="342900" indent="-342900">
              <a:spcAft>
                <a:spcPts val="800"/>
              </a:spcAft>
              <a:buSzPct val="100000"/>
              <a:buChar char="•"/>
            </a:pPr>
            <a:r>
              <a:rPr lang="en-US" sz="1500" dirty="0">
                <a:solidFill>
                  <a:schemeClr val="tx1"/>
                </a:solidFill>
              </a:rPr>
              <a:t>2件以上重なる番号は「要注意リスト」に</a:t>
            </a:r>
            <a:endParaRPr lang="en-US" sz="1500" dirty="0"/>
          </a:p>
        </p:txBody>
      </p:sp>
      <p:sp>
        <p:nvSpPr>
          <p:cNvPr id="12" name="Text 7"/>
          <p:cNvSpPr txBox="1"/>
          <p:nvPr/>
        </p:nvSpPr>
        <p:spPr>
          <a:xfrm>
            <a:off x="7772400" y="5349240"/>
            <a:ext cx="3840480" cy="731520"/>
          </a:xfrm>
          <a:prstGeom prst="rect">
            <a:avLst/>
          </a:prstGeom>
          <a:noFill/>
          <a:ln/>
        </p:spPr>
        <p:txBody>
          <a:bodyPr wrap="square" lIns="0" tIns="0" rIns="0" bIns="0" rtlCol="0" anchor="t"/>
          <a:lstStyle/>
          <a:p>
            <a:pPr indent="0" marL="0">
              <a:buNone/>
            </a:pPr>
            <a:r>
              <a:rPr lang="en-US" sz="1200" dirty="0">
                <a:solidFill>
                  <a:schemeClr val="accent6"/>
                </a:solidFill>
              </a:rPr>
              <a:t>要注意リストは、理由を決めつけるためではなく、見落とさないための目印です。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メールで知らせる：本人の未提出だけを一人ずつ</a:t>
            </a:r>
            <a:endParaRPr lang="en-US" sz="3000" dirty="0"/>
          </a:p>
        </p:txBody>
      </p:sp>
      <p:sp>
        <p:nvSpPr>
          <p:cNvPr id="3" name="画面の枠-110"/>
          <p:cNvSpPr/>
          <p:nvPr/>
        </p:nvSpPr>
        <p:spPr>
          <a:xfrm>
            <a:off x="566928" y="1435608"/>
            <a:ext cx="6912864" cy="1965615"/>
          </a:xfrm>
          <a:prstGeom prst="roundRect">
            <a:avLst>
              <a:gd name="adj" fmla="val 3722"/>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11" descr="shots2/mail_card.png">    </p:cNvPr>
          <p:cNvPicPr>
            <a:picLocks noChangeAspect="1"/>
          </p:cNvPicPr>
          <p:nvPr/>
        </p:nvPicPr>
        <p:blipFill>
          <a:blip r:embed="rId1"/>
          <a:stretch>
            <a:fillRect/>
          </a:stretch>
        </p:blipFill>
        <p:spPr>
          <a:xfrm>
            <a:off x="640080" y="1508760"/>
            <a:ext cx="6766560" cy="1819311"/>
          </a:xfrm>
          <a:prstGeom prst="rect">
            <a:avLst/>
          </a:prstGeom>
        </p:spPr>
      </p:pic>
      <p:sp>
        <p:nvSpPr>
          <p:cNvPr id="5" name="画面の枠-112"/>
          <p:cNvSpPr/>
          <p:nvPr/>
        </p:nvSpPr>
        <p:spPr>
          <a:xfrm>
            <a:off x="566928" y="3574959"/>
            <a:ext cx="6912864" cy="1625969"/>
          </a:xfrm>
          <a:prstGeom prst="roundRect">
            <a:avLst>
              <a:gd name="adj" fmla="val 4499"/>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6" name="画面-113" descr="shots2/mail_preview.png">    </p:cNvPr>
          <p:cNvPicPr>
            <a:picLocks noChangeAspect="1"/>
          </p:cNvPicPr>
          <p:nvPr/>
        </p:nvPicPr>
        <p:blipFill>
          <a:blip r:embed="rId2"/>
          <a:stretch>
            <a:fillRect/>
          </a:stretch>
        </p:blipFill>
        <p:spPr>
          <a:xfrm>
            <a:off x="640080" y="3648111"/>
            <a:ext cx="6766560" cy="1479665"/>
          </a:xfrm>
          <a:prstGeom prst="rect">
            <a:avLst/>
          </a:prstGeom>
        </p:spPr>
      </p:pic>
      <p:sp>
        <p:nvSpPr>
          <p:cNvPr id="7" name="番号-114"/>
          <p:cNvSpPr/>
          <p:nvPr/>
        </p:nvSpPr>
        <p:spPr>
          <a:xfrm>
            <a:off x="7863840" y="1554480"/>
            <a:ext cx="457200" cy="457200"/>
          </a:xfrm>
          <a:prstGeom prst="ellipse">
            <a:avLst/>
          </a:prstGeom>
          <a:solidFill>
            <a:schemeClr val="accent1"/>
          </a:solidFill>
          <a:ln w="12700">
            <a:solidFill>
              <a:schemeClr val="accent1"/>
            </a:solidFill>
            <a:prstDash val="solid"/>
          </a:ln>
        </p:spPr>
      </p:sp>
      <p:sp>
        <p:nvSpPr>
          <p:cNvPr id="8" name="Text 4"/>
          <p:cNvSpPr txBox="1"/>
          <p:nvPr/>
        </p:nvSpPr>
        <p:spPr>
          <a:xfrm>
            <a:off x="78638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手順-115"/>
          <p:cNvSpPr txBox="1"/>
          <p:nvPr/>
        </p:nvSpPr>
        <p:spPr>
          <a:xfrm>
            <a:off x="8503920" y="1481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「声かけビュー」の「メールで知らせる」へ</a:t>
            </a:r>
            <a:endParaRPr lang="en-US" sz="1700" dirty="0"/>
          </a:p>
        </p:txBody>
      </p:sp>
      <p:sp>
        <p:nvSpPr>
          <p:cNvPr id="10" name="番号-116"/>
          <p:cNvSpPr/>
          <p:nvPr/>
        </p:nvSpPr>
        <p:spPr>
          <a:xfrm>
            <a:off x="7863840" y="2697480"/>
            <a:ext cx="457200" cy="457200"/>
          </a:xfrm>
          <a:prstGeom prst="ellipse">
            <a:avLst/>
          </a:prstGeom>
          <a:solidFill>
            <a:schemeClr val="accent1"/>
          </a:solidFill>
          <a:ln w="12700">
            <a:solidFill>
              <a:schemeClr val="accent1"/>
            </a:solidFill>
            <a:prstDash val="solid"/>
          </a:ln>
        </p:spPr>
      </p:sp>
      <p:sp>
        <p:nvSpPr>
          <p:cNvPr id="11" name="Text 7"/>
          <p:cNvSpPr txBox="1"/>
          <p:nvPr/>
        </p:nvSpPr>
        <p:spPr>
          <a:xfrm>
            <a:off x="78638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手順-117"/>
          <p:cNvSpPr txBox="1"/>
          <p:nvPr/>
        </p:nvSpPr>
        <p:spPr>
          <a:xfrm>
            <a:off x="8503920" y="2624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「文面を確認」で内容を見る</a:t>
            </a:r>
            <a:endParaRPr lang="en-US" sz="1700" dirty="0"/>
          </a:p>
          <a:p>
            <a:pPr indent="0" marL="0">
              <a:spcAft>
                <a:spcPts val="200"/>
              </a:spcAft>
              <a:buNone/>
            </a:pPr>
            <a:r>
              <a:rPr lang="en-US" sz="1400" dirty="0">
                <a:solidFill>
                  <a:schemeClr val="accent6"/>
                </a:solidFill>
              </a:rPr>
              <a:t>件名は自由に変えられます</a:t>
            </a:r>
            <a:endParaRPr lang="en-US" sz="1700" dirty="0"/>
          </a:p>
        </p:txBody>
      </p:sp>
      <p:sp>
        <p:nvSpPr>
          <p:cNvPr id="13" name="番号-118"/>
          <p:cNvSpPr/>
          <p:nvPr/>
        </p:nvSpPr>
        <p:spPr>
          <a:xfrm>
            <a:off x="7863840" y="3840480"/>
            <a:ext cx="457200" cy="457200"/>
          </a:xfrm>
          <a:prstGeom prst="ellipse">
            <a:avLst/>
          </a:prstGeom>
          <a:solidFill>
            <a:schemeClr val="accent1"/>
          </a:solidFill>
          <a:ln w="12700">
            <a:solidFill>
              <a:schemeClr val="accent1"/>
            </a:solidFill>
            <a:prstDash val="solid"/>
          </a:ln>
        </p:spPr>
      </p:sp>
      <p:sp>
        <p:nvSpPr>
          <p:cNvPr id="14" name="Text 10"/>
          <p:cNvSpPr txBox="1"/>
          <p:nvPr/>
        </p:nvSpPr>
        <p:spPr>
          <a:xfrm>
            <a:off x="78638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手順-119"/>
          <p:cNvSpPr txBox="1"/>
          <p:nvPr/>
        </p:nvSpPr>
        <p:spPr>
          <a:xfrm>
            <a:off x="8503920" y="3767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「メールを送る」を押す</a:t>
            </a:r>
            <a:endParaRPr lang="en-US" sz="1700" dirty="0"/>
          </a:p>
          <a:p>
            <a:pPr indent="0" marL="0">
              <a:spcAft>
                <a:spcPts val="200"/>
              </a:spcAft>
              <a:buNone/>
            </a:pPr>
            <a:r>
              <a:rPr lang="en-US" sz="1400" dirty="0">
                <a:solidFill>
                  <a:schemeClr val="accent6"/>
                </a:solidFill>
              </a:rPr>
              <a:t>確認画面で、送る相手・送らない人が番号で出ます</a:t>
            </a:r>
            <a:endParaRPr lang="en-US" sz="1700" dirty="0"/>
          </a:p>
        </p:txBody>
      </p:sp>
      <p:sp>
        <p:nvSpPr>
          <p:cNvPr id="16" name="番号-120"/>
          <p:cNvSpPr/>
          <p:nvPr/>
        </p:nvSpPr>
        <p:spPr>
          <a:xfrm>
            <a:off x="7863840" y="4983480"/>
            <a:ext cx="457200" cy="457200"/>
          </a:xfrm>
          <a:prstGeom prst="ellipse">
            <a:avLst/>
          </a:prstGeom>
          <a:solidFill>
            <a:schemeClr val="accent1"/>
          </a:solidFill>
          <a:ln w="12700">
            <a:solidFill>
              <a:schemeClr val="accent1"/>
            </a:solidFill>
            <a:prstDash val="solid"/>
          </a:ln>
        </p:spPr>
      </p:sp>
      <p:sp>
        <p:nvSpPr>
          <p:cNvPr id="17" name="Text 13"/>
          <p:cNvSpPr txBox="1"/>
          <p:nvPr/>
        </p:nvSpPr>
        <p:spPr>
          <a:xfrm>
            <a:off x="78638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手順-121"/>
          <p:cNvSpPr txBox="1"/>
          <p:nvPr/>
        </p:nvSpPr>
        <p:spPr>
          <a:xfrm>
            <a:off x="8503920" y="4910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送信記録が残る</a:t>
            </a:r>
            <a:endParaRPr lang="en-US" sz="1700" dirty="0"/>
          </a:p>
          <a:p>
            <a:pPr indent="0" marL="0">
              <a:spcAft>
                <a:spcPts val="200"/>
              </a:spcAft>
              <a:buNone/>
            </a:pPr>
            <a:r>
              <a:rPr lang="en-US" sz="1400" dirty="0">
                <a:solidFill>
                  <a:schemeClr val="accent6"/>
                </a:solidFill>
              </a:rPr>
              <a:t>データのスプレッドシートの「メール送信記録」シート</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事情のある生徒には送らない：除外とメール停止</a:t>
            </a:r>
            <a:endParaRPr lang="en-US" sz="3000" dirty="0"/>
          </a:p>
        </p:txBody>
      </p:sp>
      <p:sp>
        <p:nvSpPr>
          <p:cNvPr id="3" name="画面の枠-122"/>
          <p:cNvSpPr/>
          <p:nvPr/>
        </p:nvSpPr>
        <p:spPr>
          <a:xfrm>
            <a:off x="566928" y="1435608"/>
            <a:ext cx="6608064" cy="4718304"/>
          </a:xfrm>
          <a:prstGeom prst="roundRect">
            <a:avLst>
              <a:gd name="adj" fmla="val 1550"/>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23" descr="shots2/mail_list.png">    </p:cNvPr>
          <p:cNvPicPr>
            <a:picLocks noChangeAspect="1"/>
          </p:cNvPicPr>
          <p:nvPr/>
        </p:nvPicPr>
        <p:blipFill>
          <a:blip r:embed="rId1"/>
          <a:stretch>
            <a:fillRect/>
          </a:stretch>
        </p:blipFill>
        <p:spPr>
          <a:xfrm>
            <a:off x="640080" y="1508760"/>
            <a:ext cx="6461760" cy="4572000"/>
          </a:xfrm>
          <a:prstGeom prst="rect">
            <a:avLst/>
          </a:prstGeom>
        </p:spPr>
      </p:pic>
      <p:sp>
        <p:nvSpPr>
          <p:cNvPr id="5" name="カード-124"/>
          <p:cNvSpPr/>
          <p:nvPr/>
        </p:nvSpPr>
        <p:spPr>
          <a:xfrm>
            <a:off x="7680960" y="1463040"/>
            <a:ext cx="3931920" cy="1417320"/>
          </a:xfrm>
          <a:prstGeom prst="roundRect">
            <a:avLst>
              <a:gd name="adj" fmla="val 7742"/>
            </a:avLst>
          </a:prstGeom>
          <a:solidFill>
            <a:schemeClr val="bg2"/>
          </a:solidFill>
          <a:ln w="12700">
            <a:solidFill>
              <a:schemeClr val="bg2"/>
            </a:solidFill>
            <a:prstDash val="solid"/>
          </a:ln>
        </p:spPr>
      </p:sp>
      <p:sp>
        <p:nvSpPr>
          <p:cNvPr id="6" name="説明-125"/>
          <p:cNvSpPr txBox="1"/>
          <p:nvPr/>
        </p:nvSpPr>
        <p:spPr>
          <a:xfrm>
            <a:off x="7909560" y="1600200"/>
            <a:ext cx="3474720" cy="11430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今回だけ送らない</a:t>
            </a:r>
            <a:endParaRPr lang="en-US" sz="1700" dirty="0"/>
          </a:p>
          <a:p>
            <a:pPr indent="0" marL="0">
              <a:spcAft>
                <a:spcPts val="400"/>
              </a:spcAft>
              <a:buNone/>
            </a:pPr>
            <a:r>
              <a:rPr lang="en-US" sz="1400" dirty="0">
                <a:solidFill>
                  <a:schemeClr val="tx1"/>
                </a:solidFill>
              </a:rPr>
              <a:t>「▼ 送る相手を確認・除外」でチェックを外すと、今回の送信だけ外れます。</a:t>
            </a:r>
            <a:endParaRPr lang="en-US" sz="1700" dirty="0"/>
          </a:p>
        </p:txBody>
      </p:sp>
      <p:sp>
        <p:nvSpPr>
          <p:cNvPr id="7" name="カード-126"/>
          <p:cNvSpPr/>
          <p:nvPr/>
        </p:nvSpPr>
        <p:spPr>
          <a:xfrm>
            <a:off x="7680960" y="3063240"/>
            <a:ext cx="3931920" cy="1737360"/>
          </a:xfrm>
          <a:prstGeom prst="roundRect">
            <a:avLst>
              <a:gd name="adj" fmla="val 6316"/>
            </a:avLst>
          </a:prstGeom>
          <a:solidFill>
            <a:schemeClr val="bg2"/>
          </a:solidFill>
          <a:ln w="12700">
            <a:solidFill>
              <a:schemeClr val="bg2"/>
            </a:solidFill>
            <a:prstDash val="solid"/>
          </a:ln>
        </p:spPr>
      </p:sp>
      <p:sp>
        <p:nvSpPr>
          <p:cNvPr id="8" name="説明-127"/>
          <p:cNvSpPr txBox="1"/>
          <p:nvPr/>
        </p:nvSpPr>
        <p:spPr>
          <a:xfrm>
            <a:off x="7909560" y="3200400"/>
            <a:ext cx="3474720" cy="146304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今後も送らない（メール停止）</a:t>
            </a:r>
            <a:endParaRPr lang="en-US" sz="1700" dirty="0"/>
          </a:p>
          <a:p>
            <a:pPr indent="0" marL="0">
              <a:spcAft>
                <a:spcPts val="400"/>
              </a:spcAft>
              <a:buNone/>
            </a:pPr>
            <a:r>
              <a:rPr lang="en-US" sz="1400" dirty="0">
                <a:solidFill>
                  <a:schemeClr val="tx1"/>
                </a:solidFill>
              </a:rPr>
              <a:t>「今後も送らない」を押すと「メール停止中」になり、解除するまで送りません。別の端末から送るときも外れたままです。</a:t>
            </a:r>
            <a:endParaRPr lang="en-US" sz="1700" dirty="0"/>
          </a:p>
        </p:txBody>
      </p:sp>
      <p:sp>
        <p:nvSpPr>
          <p:cNvPr id="9" name="カード-128"/>
          <p:cNvSpPr/>
          <p:nvPr/>
        </p:nvSpPr>
        <p:spPr>
          <a:xfrm>
            <a:off x="7680960" y="4983480"/>
            <a:ext cx="3931920" cy="1097280"/>
          </a:xfrm>
          <a:prstGeom prst="roundRect">
            <a:avLst>
              <a:gd name="adj" fmla="val 10000"/>
            </a:avLst>
          </a:prstGeom>
          <a:solidFill>
            <a:srgbClr val="FDF3E1"/>
          </a:solidFill>
          <a:ln w="12700">
            <a:solidFill>
              <a:srgbClr val="FDF3E1"/>
            </a:solidFill>
            <a:prstDash val="solid"/>
          </a:ln>
        </p:spPr>
      </p:sp>
      <p:sp>
        <p:nvSpPr>
          <p:cNvPr id="10" name="説明-129"/>
          <p:cNvSpPr txBox="1"/>
          <p:nvPr/>
        </p:nvSpPr>
        <p:spPr>
          <a:xfrm>
            <a:off x="7909560" y="5120640"/>
            <a:ext cx="3474720" cy="8229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手紙も同じ扱い</a:t>
            </a:r>
            <a:endParaRPr lang="en-US" sz="1700" dirty="0"/>
          </a:p>
          <a:p>
            <a:pPr indent="0" marL="0">
              <a:spcAft>
                <a:spcPts val="400"/>
              </a:spcAft>
              <a:buNone/>
            </a:pPr>
            <a:r>
              <a:rPr lang="en-US" sz="1400" dirty="0">
                <a:solidFill>
                  <a:schemeClr val="tx1"/>
                </a:solidFill>
              </a:rPr>
              <a:t>メール停止中の生徒は、個人別の手紙も最初から印刷しない設定になります。</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個人別の手紙：1人1枚でまとめて印刷</a:t>
            </a:r>
            <a:endParaRPr lang="en-US" sz="3000" dirty="0"/>
          </a:p>
        </p:txBody>
      </p:sp>
      <p:sp>
        <p:nvSpPr>
          <p:cNvPr id="3" name="画面の枠-130"/>
          <p:cNvSpPr/>
          <p:nvPr/>
        </p:nvSpPr>
        <p:spPr>
          <a:xfrm>
            <a:off x="658368" y="1435608"/>
            <a:ext cx="3443518" cy="4809744"/>
          </a:xfrm>
          <a:prstGeom prst="roundRect">
            <a:avLst>
              <a:gd name="adj" fmla="val 2124"/>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31" descr="shots2/letter.png">    </p:cNvPr>
          <p:cNvPicPr>
            <a:picLocks noChangeAspect="1"/>
          </p:cNvPicPr>
          <p:nvPr/>
        </p:nvPicPr>
        <p:blipFill>
          <a:blip r:embed="rId1"/>
          <a:stretch>
            <a:fillRect/>
          </a:stretch>
        </p:blipFill>
        <p:spPr>
          <a:xfrm>
            <a:off x="731520" y="1508760"/>
            <a:ext cx="3297214" cy="4663440"/>
          </a:xfrm>
          <a:prstGeom prst="rect">
            <a:avLst/>
          </a:prstGeom>
        </p:spPr>
      </p:pic>
      <p:sp>
        <p:nvSpPr>
          <p:cNvPr id="5" name="画面の枠-132"/>
          <p:cNvSpPr/>
          <p:nvPr/>
        </p:nvSpPr>
        <p:spPr>
          <a:xfrm>
            <a:off x="4504222" y="1435608"/>
            <a:ext cx="7181810" cy="1913477"/>
          </a:xfrm>
          <a:prstGeom prst="roundRect">
            <a:avLst>
              <a:gd name="adj" fmla="val 3823"/>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6" name="画面-133" descr="shots2/print_personal.png">    </p:cNvPr>
          <p:cNvPicPr>
            <a:picLocks noChangeAspect="1"/>
          </p:cNvPicPr>
          <p:nvPr/>
        </p:nvPicPr>
        <p:blipFill>
          <a:blip r:embed="rId2"/>
          <a:stretch>
            <a:fillRect/>
          </a:stretch>
        </p:blipFill>
        <p:spPr>
          <a:xfrm>
            <a:off x="4577374" y="1508760"/>
            <a:ext cx="7035506" cy="1767173"/>
          </a:xfrm>
          <a:prstGeom prst="rect">
            <a:avLst/>
          </a:prstGeom>
        </p:spPr>
      </p:pic>
      <p:sp>
        <p:nvSpPr>
          <p:cNvPr id="7" name="番号-134"/>
          <p:cNvSpPr/>
          <p:nvPr/>
        </p:nvSpPr>
        <p:spPr>
          <a:xfrm>
            <a:off x="4577374" y="3429000"/>
            <a:ext cx="411480" cy="411480"/>
          </a:xfrm>
          <a:prstGeom prst="ellipse">
            <a:avLst/>
          </a:prstGeom>
          <a:solidFill>
            <a:schemeClr val="accent1"/>
          </a:solidFill>
          <a:ln w="12700">
            <a:solidFill>
              <a:schemeClr val="accent1"/>
            </a:solidFill>
            <a:prstDash val="solid"/>
          </a:ln>
        </p:spPr>
      </p:sp>
      <p:sp>
        <p:nvSpPr>
          <p:cNvPr id="8" name="Text 4"/>
          <p:cNvSpPr txBox="1"/>
          <p:nvPr/>
        </p:nvSpPr>
        <p:spPr>
          <a:xfrm>
            <a:off x="4577374" y="342900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5"/>
          <p:cNvSpPr txBox="1"/>
          <p:nvPr/>
        </p:nvSpPr>
        <p:spPr>
          <a:xfrm>
            <a:off x="5171734" y="3383280"/>
            <a:ext cx="6441146" cy="822960"/>
          </a:xfrm>
          <a:prstGeom prst="rect">
            <a:avLst/>
          </a:prstGeom>
          <a:noFill/>
          <a:ln/>
        </p:spPr>
        <p:txBody>
          <a:bodyPr wrap="square" lIns="0" tIns="0" rIns="0" bIns="0" rtlCol="0" anchor="t"/>
          <a:lstStyle/>
          <a:p>
            <a:pPr indent="0" marL="0">
              <a:buNone/>
            </a:pPr>
            <a:r>
              <a:rPr lang="en-US" sz="1500" b="1" dirty="0">
                <a:solidFill>
                  <a:schemeClr val="tx1"/>
                </a:solidFill>
              </a:rPr>
              <a:t>「印刷プレビュー」→「個人別の手紙」</a:t>
            </a:r>
            <a:endParaRPr lang="en-US" sz="1500" dirty="0"/>
          </a:p>
          <a:p>
            <a:pPr indent="0" marL="0">
              <a:buNone/>
            </a:pPr>
            <a:r>
              <a:rPr lang="en-US" sz="1300" dirty="0">
                <a:solidFill>
                  <a:schemeClr val="accent6"/>
                </a:solidFill>
              </a:rPr>
              <a:t>声かけビューの「手紙を印刷」からも開けます</a:t>
            </a:r>
            <a:endParaRPr lang="en-US" sz="1500" dirty="0"/>
          </a:p>
        </p:txBody>
      </p:sp>
      <p:sp>
        <p:nvSpPr>
          <p:cNvPr id="10" name="番号-135"/>
          <p:cNvSpPr/>
          <p:nvPr/>
        </p:nvSpPr>
        <p:spPr>
          <a:xfrm>
            <a:off x="4577374" y="4325112"/>
            <a:ext cx="411480" cy="411480"/>
          </a:xfrm>
          <a:prstGeom prst="ellipse">
            <a:avLst/>
          </a:prstGeom>
          <a:solidFill>
            <a:schemeClr val="accent1"/>
          </a:solidFill>
          <a:ln w="12700">
            <a:solidFill>
              <a:schemeClr val="accent1"/>
            </a:solidFill>
            <a:prstDash val="solid"/>
          </a:ln>
        </p:spPr>
      </p:sp>
      <p:sp>
        <p:nvSpPr>
          <p:cNvPr id="11" name="Text 7"/>
          <p:cNvSpPr txBox="1"/>
          <p:nvPr/>
        </p:nvSpPr>
        <p:spPr>
          <a:xfrm>
            <a:off x="4577374" y="4325112"/>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8"/>
          <p:cNvSpPr txBox="1"/>
          <p:nvPr/>
        </p:nvSpPr>
        <p:spPr>
          <a:xfrm>
            <a:off x="5171734" y="4279392"/>
            <a:ext cx="6441146" cy="822960"/>
          </a:xfrm>
          <a:prstGeom prst="rect">
            <a:avLst/>
          </a:prstGeom>
          <a:noFill/>
          <a:ln/>
        </p:spPr>
        <p:txBody>
          <a:bodyPr wrap="square" lIns="0" tIns="0" rIns="0" bIns="0" rtlCol="0" anchor="t"/>
          <a:lstStyle/>
          <a:p>
            <a:pPr indent="0" marL="0">
              <a:buNone/>
            </a:pPr>
            <a:r>
              <a:rPr lang="en-US" sz="1500" b="1" dirty="0">
                <a:solidFill>
                  <a:schemeClr val="tx1"/>
                </a:solidFill>
              </a:rPr>
              <a:t>用紙を選ぶ</a:t>
            </a:r>
            <a:endParaRPr lang="en-US" sz="1500" dirty="0"/>
          </a:p>
          <a:p>
            <a:pPr indent="0" marL="0">
              <a:buNone/>
            </a:pPr>
            <a:r>
              <a:rPr lang="en-US" sz="1300" dirty="0">
                <a:solidFill>
                  <a:schemeClr val="accent6"/>
                </a:solidFill>
              </a:rPr>
              <a:t>「1枚に1人（手紙）」または「1枚に4人（切って渡す）」</a:t>
            </a:r>
            <a:endParaRPr lang="en-US" sz="1500" dirty="0"/>
          </a:p>
        </p:txBody>
      </p:sp>
      <p:sp>
        <p:nvSpPr>
          <p:cNvPr id="13" name="番号-136"/>
          <p:cNvSpPr/>
          <p:nvPr/>
        </p:nvSpPr>
        <p:spPr>
          <a:xfrm>
            <a:off x="4577374" y="5221224"/>
            <a:ext cx="411480" cy="411480"/>
          </a:xfrm>
          <a:prstGeom prst="ellipse">
            <a:avLst/>
          </a:prstGeom>
          <a:solidFill>
            <a:schemeClr val="accent1"/>
          </a:solidFill>
          <a:ln w="12700">
            <a:solidFill>
              <a:schemeClr val="accent1"/>
            </a:solidFill>
            <a:prstDash val="solid"/>
          </a:ln>
        </p:spPr>
      </p:sp>
      <p:sp>
        <p:nvSpPr>
          <p:cNvPr id="14" name="Text 10"/>
          <p:cNvSpPr txBox="1"/>
          <p:nvPr/>
        </p:nvSpPr>
        <p:spPr>
          <a:xfrm>
            <a:off x="4577374" y="5221224"/>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1"/>
          <p:cNvSpPr txBox="1"/>
          <p:nvPr/>
        </p:nvSpPr>
        <p:spPr>
          <a:xfrm>
            <a:off x="5171734" y="5175504"/>
            <a:ext cx="6441146" cy="822960"/>
          </a:xfrm>
          <a:prstGeom prst="rect">
            <a:avLst/>
          </a:prstGeom>
          <a:noFill/>
          <a:ln/>
        </p:spPr>
        <p:txBody>
          <a:bodyPr wrap="square" lIns="0" tIns="0" rIns="0" bIns="0" rtlCol="0" anchor="t"/>
          <a:lstStyle/>
          <a:p>
            <a:pPr indent="0" marL="0">
              <a:buNone/>
            </a:pPr>
            <a:r>
              <a:rPr lang="en-US" sz="1500" b="1" dirty="0">
                <a:solidFill>
                  <a:schemeClr val="tx1"/>
                </a:solidFill>
              </a:rPr>
              <a:t>対象を絞れる</a:t>
            </a:r>
            <a:endParaRPr lang="en-US" sz="1500" dirty="0"/>
          </a:p>
          <a:p>
            <a:pPr indent="0" marL="0">
              <a:buNone/>
            </a:pPr>
            <a:r>
              <a:rPr lang="en-US" sz="1300" dirty="0">
                <a:solidFill>
                  <a:schemeClr val="accent6"/>
                </a:solidFill>
              </a:rPr>
              <a:t>全員／メール未登録の生徒だけ／1人だけ。メール停止中は除く</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クラス別の一覧・白紙のチェック表</a:t>
            </a:r>
            <a:endParaRPr lang="en-US" sz="3000" dirty="0"/>
          </a:p>
        </p:txBody>
      </p:sp>
      <p:sp>
        <p:nvSpPr>
          <p:cNvPr id="3" name="画面の枠-137"/>
          <p:cNvSpPr/>
          <p:nvPr/>
        </p:nvSpPr>
        <p:spPr>
          <a:xfrm>
            <a:off x="658368" y="1435608"/>
            <a:ext cx="3438144" cy="4802143"/>
          </a:xfrm>
          <a:prstGeom prst="roundRect">
            <a:avLst>
              <a:gd name="adj" fmla="val 2128"/>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38" descr="shots2/classsheet.png">    </p:cNvPr>
          <p:cNvPicPr>
            <a:picLocks noChangeAspect="1"/>
          </p:cNvPicPr>
          <p:nvPr/>
        </p:nvPicPr>
        <p:blipFill>
          <a:blip r:embed="rId1"/>
          <a:stretch>
            <a:fillRect/>
          </a:stretch>
        </p:blipFill>
        <p:spPr>
          <a:xfrm>
            <a:off x="731520" y="1508760"/>
            <a:ext cx="3291840" cy="4655839"/>
          </a:xfrm>
          <a:prstGeom prst="rect">
            <a:avLst/>
          </a:prstGeom>
        </p:spPr>
      </p:pic>
      <p:sp>
        <p:nvSpPr>
          <p:cNvPr id="5" name="画面の枠-139"/>
          <p:cNvSpPr/>
          <p:nvPr/>
        </p:nvSpPr>
        <p:spPr>
          <a:xfrm>
            <a:off x="4407408" y="1435608"/>
            <a:ext cx="3438144" cy="4802143"/>
          </a:xfrm>
          <a:prstGeom prst="roundRect">
            <a:avLst>
              <a:gd name="adj" fmla="val 2128"/>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6" name="画面-140" descr="shots2/blank.png">    </p:cNvPr>
          <p:cNvPicPr>
            <a:picLocks noChangeAspect="1"/>
          </p:cNvPicPr>
          <p:nvPr/>
        </p:nvPicPr>
        <p:blipFill>
          <a:blip r:embed="rId2"/>
          <a:stretch>
            <a:fillRect/>
          </a:stretch>
        </p:blipFill>
        <p:spPr>
          <a:xfrm>
            <a:off x="4480560" y="1508760"/>
            <a:ext cx="3291840" cy="4655839"/>
          </a:xfrm>
          <a:prstGeom prst="rect">
            <a:avLst/>
          </a:prstGeom>
        </p:spPr>
      </p:pic>
      <p:sp>
        <p:nvSpPr>
          <p:cNvPr id="7" name="カード-141"/>
          <p:cNvSpPr/>
          <p:nvPr/>
        </p:nvSpPr>
        <p:spPr>
          <a:xfrm>
            <a:off x="8321040" y="1463040"/>
            <a:ext cx="3291840" cy="1463040"/>
          </a:xfrm>
          <a:prstGeom prst="roundRect">
            <a:avLst>
              <a:gd name="adj" fmla="val 7500"/>
            </a:avLst>
          </a:prstGeom>
          <a:solidFill>
            <a:schemeClr val="bg2"/>
          </a:solidFill>
          <a:ln w="12700">
            <a:solidFill>
              <a:schemeClr val="bg2"/>
            </a:solidFill>
            <a:prstDash val="solid"/>
          </a:ln>
        </p:spPr>
      </p:sp>
      <p:sp>
        <p:nvSpPr>
          <p:cNvPr id="8" name="説明-142"/>
          <p:cNvSpPr txBox="1"/>
          <p:nvPr/>
        </p:nvSpPr>
        <p:spPr>
          <a:xfrm>
            <a:off x="8549640" y="1600200"/>
            <a:ext cx="2834640" cy="118872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クラス別（掲示用）</a:t>
            </a:r>
            <a:endParaRPr lang="en-US" sz="1700" dirty="0"/>
          </a:p>
          <a:p>
            <a:pPr indent="0" marL="0">
              <a:spcAft>
                <a:spcPts val="400"/>
              </a:spcAft>
              <a:buNone/>
            </a:pPr>
            <a:r>
              <a:rPr lang="en-US" sz="1400" dirty="0">
                <a:solidFill>
                  <a:schemeClr val="tx1"/>
                </a:solidFill>
              </a:rPr>
              <a:t>クラス全体の提出状況の一覧。掲示する場合は「氏名を表示」をオフのままに。</a:t>
            </a:r>
            <a:endParaRPr lang="en-US" sz="1700" dirty="0"/>
          </a:p>
        </p:txBody>
      </p:sp>
      <p:sp>
        <p:nvSpPr>
          <p:cNvPr id="9" name="カード-143"/>
          <p:cNvSpPr/>
          <p:nvPr/>
        </p:nvSpPr>
        <p:spPr>
          <a:xfrm>
            <a:off x="8321040" y="3108960"/>
            <a:ext cx="3291840" cy="1325880"/>
          </a:xfrm>
          <a:prstGeom prst="roundRect">
            <a:avLst>
              <a:gd name="adj" fmla="val 8276"/>
            </a:avLst>
          </a:prstGeom>
          <a:solidFill>
            <a:schemeClr val="bg2"/>
          </a:solidFill>
          <a:ln w="12700">
            <a:solidFill>
              <a:schemeClr val="bg2"/>
            </a:solidFill>
            <a:prstDash val="solid"/>
          </a:ln>
        </p:spPr>
      </p:sp>
      <p:sp>
        <p:nvSpPr>
          <p:cNvPr id="10" name="説明-144"/>
          <p:cNvSpPr txBox="1"/>
          <p:nvPr/>
        </p:nvSpPr>
        <p:spPr>
          <a:xfrm>
            <a:off x="8549640" y="3246120"/>
            <a:ext cx="2834640" cy="1051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白紙のチェック表</a:t>
            </a:r>
            <a:endParaRPr lang="en-US" sz="1700" dirty="0"/>
          </a:p>
          <a:p>
            <a:pPr indent="0" marL="0">
              <a:spcAft>
                <a:spcPts val="400"/>
              </a:spcAft>
              <a:buNone/>
            </a:pPr>
            <a:r>
              <a:rPr lang="en-US" sz="1400" dirty="0">
                <a:solidFill>
                  <a:schemeClr val="tx1"/>
                </a:solidFill>
              </a:rPr>
              <a:t>手書きで確認するための表。列の数と表題を変えられます。</a:t>
            </a:r>
            <a:endParaRPr lang="en-US" sz="1700" dirty="0"/>
          </a:p>
        </p:txBody>
      </p:sp>
      <p:sp>
        <p:nvSpPr>
          <p:cNvPr id="11" name="カード-145"/>
          <p:cNvSpPr/>
          <p:nvPr/>
        </p:nvSpPr>
        <p:spPr>
          <a:xfrm>
            <a:off x="8321040" y="4617720"/>
            <a:ext cx="3291840" cy="1097280"/>
          </a:xfrm>
          <a:prstGeom prst="roundRect">
            <a:avLst>
              <a:gd name="adj" fmla="val 10000"/>
            </a:avLst>
          </a:prstGeom>
          <a:solidFill>
            <a:schemeClr val="bg2"/>
          </a:solidFill>
          <a:ln w="12700">
            <a:solidFill>
              <a:schemeClr val="bg2"/>
            </a:solidFill>
            <a:prstDash val="solid"/>
          </a:ln>
        </p:spPr>
      </p:sp>
      <p:sp>
        <p:nvSpPr>
          <p:cNvPr id="12" name="説明-146"/>
          <p:cNvSpPr txBox="1"/>
          <p:nvPr/>
        </p:nvSpPr>
        <p:spPr>
          <a:xfrm>
            <a:off x="8549640" y="4754880"/>
            <a:ext cx="2834640" cy="8229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PDFにも</a:t>
            </a:r>
            <a:endParaRPr lang="en-US" sz="1700" dirty="0"/>
          </a:p>
          <a:p>
            <a:pPr indent="0" marL="0">
              <a:spcAft>
                <a:spcPts val="400"/>
              </a:spcAft>
              <a:buNone/>
            </a:pPr>
            <a:r>
              <a:rPr lang="en-US" sz="1400" dirty="0">
                <a:solidFill>
                  <a:schemeClr val="tx1"/>
                </a:solidFill>
              </a:rPr>
              <a:t>印刷画面の送信先で「PDFに保存」を選びます。</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Classroomに掲示：チェックがすぐ反映される</a:t>
            </a:r>
            <a:endParaRPr lang="en-US" sz="3000" dirty="0"/>
          </a:p>
        </p:txBody>
      </p:sp>
      <p:sp>
        <p:nvSpPr>
          <p:cNvPr id="3" name="画面の枠-147"/>
          <p:cNvSpPr/>
          <p:nvPr/>
        </p:nvSpPr>
        <p:spPr>
          <a:xfrm>
            <a:off x="566928" y="1435608"/>
            <a:ext cx="6912864" cy="2061368"/>
          </a:xfrm>
          <a:prstGeom prst="roundRect">
            <a:avLst>
              <a:gd name="adj" fmla="val 3549"/>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48" descr="shots2/board_card.png">    </p:cNvPr>
          <p:cNvPicPr>
            <a:picLocks noChangeAspect="1"/>
          </p:cNvPicPr>
          <p:nvPr/>
        </p:nvPicPr>
        <p:blipFill>
          <a:blip r:embed="rId1"/>
          <a:stretch>
            <a:fillRect/>
          </a:stretch>
        </p:blipFill>
        <p:spPr>
          <a:xfrm>
            <a:off x="640080" y="1508760"/>
            <a:ext cx="6766560" cy="1915064"/>
          </a:xfrm>
          <a:prstGeom prst="rect">
            <a:avLst/>
          </a:prstGeom>
        </p:spPr>
      </p:pic>
      <p:sp>
        <p:nvSpPr>
          <p:cNvPr id="5" name="番号-149"/>
          <p:cNvSpPr/>
          <p:nvPr/>
        </p:nvSpPr>
        <p:spPr>
          <a:xfrm>
            <a:off x="7863840" y="155448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8638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手順-150"/>
          <p:cNvSpPr txBox="1"/>
          <p:nvPr/>
        </p:nvSpPr>
        <p:spPr>
          <a:xfrm>
            <a:off x="8503920" y="1481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「掲示用リンクを作る」を押す</a:t>
            </a:r>
            <a:endParaRPr lang="en-US" sz="1700" dirty="0"/>
          </a:p>
          <a:p>
            <a:pPr indent="0" marL="0">
              <a:spcAft>
                <a:spcPts val="200"/>
              </a:spcAft>
              <a:buNone/>
            </a:pPr>
            <a:r>
              <a:rPr lang="en-US" sz="1400" dirty="0">
                <a:solidFill>
                  <a:schemeClr val="accent6"/>
                </a:solidFill>
              </a:rPr>
              <a:t>「印刷プレビュー」の「Classroomに掲示」で、クラスごとに</a:t>
            </a:r>
            <a:endParaRPr lang="en-US" sz="1700" dirty="0"/>
          </a:p>
        </p:txBody>
      </p:sp>
      <p:sp>
        <p:nvSpPr>
          <p:cNvPr id="8" name="番号-151"/>
          <p:cNvSpPr/>
          <p:nvPr/>
        </p:nvSpPr>
        <p:spPr>
          <a:xfrm>
            <a:off x="7863840" y="269748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78638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手順-152"/>
          <p:cNvSpPr txBox="1"/>
          <p:nvPr/>
        </p:nvSpPr>
        <p:spPr>
          <a:xfrm>
            <a:off x="8503920" y="2624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「Classroomで共有」を押す</a:t>
            </a:r>
            <a:endParaRPr lang="en-US" sz="1700" dirty="0"/>
          </a:p>
          <a:p>
            <a:pPr indent="0" marL="0">
              <a:spcAft>
                <a:spcPts val="200"/>
              </a:spcAft>
              <a:buNone/>
            </a:pPr>
            <a:r>
              <a:rPr lang="en-US" sz="1400" dirty="0">
                <a:solidFill>
                  <a:schemeClr val="accent6"/>
                </a:solidFill>
              </a:rPr>
              <a:t>リンク付きの投稿画面が開きます（「リンクをコピー」も可）</a:t>
            </a:r>
            <a:endParaRPr lang="en-US" sz="1700" dirty="0"/>
          </a:p>
        </p:txBody>
      </p:sp>
      <p:sp>
        <p:nvSpPr>
          <p:cNvPr id="11" name="番号-153"/>
          <p:cNvSpPr/>
          <p:nvPr/>
        </p:nvSpPr>
        <p:spPr>
          <a:xfrm>
            <a:off x="7863840" y="384048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78638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手順-154"/>
          <p:cNvSpPr txBox="1"/>
          <p:nvPr/>
        </p:nvSpPr>
        <p:spPr>
          <a:xfrm>
            <a:off x="8503920" y="3767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あとはいつもどおりチェック</a:t>
            </a:r>
            <a:endParaRPr lang="en-US" sz="1700" dirty="0"/>
          </a:p>
          <a:p>
            <a:pPr indent="0" marL="0">
              <a:spcAft>
                <a:spcPts val="200"/>
              </a:spcAft>
              <a:buNone/>
            </a:pPr>
            <a:r>
              <a:rPr lang="en-US" sz="1400" dirty="0">
                <a:solidFill>
                  <a:schemeClr val="accent6"/>
                </a:solidFill>
              </a:rPr>
              <a:t>掲示用ページにすぐ反映。貼り直しは不要</a:t>
            </a:r>
            <a:endParaRPr lang="en-US" sz="1700" dirty="0"/>
          </a:p>
        </p:txBody>
      </p:sp>
      <p:sp>
        <p:nvSpPr>
          <p:cNvPr id="14" name="番号-155"/>
          <p:cNvSpPr/>
          <p:nvPr/>
        </p:nvSpPr>
        <p:spPr>
          <a:xfrm>
            <a:off x="7863840" y="4983480"/>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78638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手順-156"/>
          <p:cNvSpPr txBox="1"/>
          <p:nvPr/>
        </p:nvSpPr>
        <p:spPr>
          <a:xfrm>
            <a:off x="8503920" y="4910328"/>
            <a:ext cx="320040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「公開をやめる」で停止</a:t>
            </a:r>
            <a:endParaRPr lang="en-US" sz="1700" dirty="0"/>
          </a:p>
          <a:p>
            <a:pPr indent="0" marL="0">
              <a:spcAft>
                <a:spcPts val="200"/>
              </a:spcAft>
              <a:buNone/>
            </a:pPr>
            <a:r>
              <a:rPr lang="en-US" sz="1400" dirty="0">
                <a:solidFill>
                  <a:schemeClr val="accent6"/>
                </a:solidFill>
              </a:rPr>
              <a:t>いつでも止められます。リンクは開けなくなります</a:t>
            </a:r>
            <a:endParaRPr lang="en-US" sz="1700" dirty="0"/>
          </a:p>
        </p:txBody>
      </p:sp>
      <p:sp>
        <p:nvSpPr>
          <p:cNvPr id="17" name="カード-157"/>
          <p:cNvSpPr/>
          <p:nvPr/>
        </p:nvSpPr>
        <p:spPr>
          <a:xfrm>
            <a:off x="640080" y="4343400"/>
            <a:ext cx="6766560" cy="1737360"/>
          </a:xfrm>
          <a:prstGeom prst="roundRect">
            <a:avLst>
              <a:gd name="adj" fmla="val 6316"/>
            </a:avLst>
          </a:prstGeom>
          <a:solidFill>
            <a:srgbClr val="FDF3E1"/>
          </a:solidFill>
          <a:ln w="12700">
            <a:solidFill>
              <a:srgbClr val="FDF3E1"/>
            </a:solidFill>
            <a:prstDash val="solid"/>
          </a:ln>
        </p:spPr>
      </p:sp>
      <p:sp>
        <p:nvSpPr>
          <p:cNvPr id="18" name="Text 15"/>
          <p:cNvSpPr txBox="1"/>
          <p:nvPr/>
        </p:nvSpPr>
        <p:spPr>
          <a:xfrm>
            <a:off x="868680" y="4480560"/>
            <a:ext cx="6309360" cy="14630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印刷して貼り直す必要がなくなります</a:t>
            </a:r>
            <a:endParaRPr lang="en-US" sz="1600" dirty="0"/>
          </a:p>
          <a:p>
            <a:pPr indent="0" marL="0">
              <a:spcAft>
                <a:spcPts val="400"/>
              </a:spcAft>
              <a:buNone/>
            </a:pPr>
            <a:r>
              <a:rPr lang="en-US" sz="1300" dirty="0">
                <a:solidFill>
                  <a:schemeClr val="tx1"/>
                </a:solidFill>
              </a:rPr>
              <a:t>掲示用ページは、先生のGoogleドライブに作られる閲覧専用のスプレッドシートです。「サンプルデータを入れる」「初期化」「バックアップから復元」をすると、公開は自動で止まります。</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生徒から見た掲示用ページ（イメージ）</a:t>
            </a:r>
            <a:endParaRPr lang="en-US" sz="3000" dirty="0"/>
          </a:p>
        </p:txBody>
      </p:sp>
      <p:sp>
        <p:nvSpPr>
          <p:cNvPr id="3" name="画面の枠-158"/>
          <p:cNvSpPr/>
          <p:nvPr/>
        </p:nvSpPr>
        <p:spPr>
          <a:xfrm>
            <a:off x="658368" y="1435608"/>
            <a:ext cx="4391733" cy="4718304"/>
          </a:xfrm>
          <a:prstGeom prst="roundRect">
            <a:avLst>
              <a:gd name="adj" fmla="val 1666"/>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59" descr="shots2/board_view.png">    </p:cNvPr>
          <p:cNvPicPr>
            <a:picLocks noChangeAspect="1"/>
          </p:cNvPicPr>
          <p:nvPr/>
        </p:nvPicPr>
        <p:blipFill>
          <a:blip r:embed="rId1"/>
          <a:stretch>
            <a:fillRect/>
          </a:stretch>
        </p:blipFill>
        <p:spPr>
          <a:xfrm>
            <a:off x="731520" y="1508760"/>
            <a:ext cx="4245429" cy="4572000"/>
          </a:xfrm>
          <a:prstGeom prst="rect">
            <a:avLst/>
          </a:prstGeom>
        </p:spPr>
      </p:pic>
      <p:sp>
        <p:nvSpPr>
          <p:cNvPr id="5" name="アイコンの円-160"/>
          <p:cNvSpPr/>
          <p:nvPr/>
        </p:nvSpPr>
        <p:spPr>
          <a:xfrm>
            <a:off x="6309360" y="1508760"/>
            <a:ext cx="594360" cy="594360"/>
          </a:xfrm>
          <a:prstGeom prst="ellipse">
            <a:avLst/>
          </a:prstGeom>
          <a:solidFill>
            <a:schemeClr val="accent1"/>
          </a:solidFill>
          <a:ln w="12700">
            <a:solidFill>
              <a:schemeClr val="accent1"/>
            </a:solidFill>
            <a:prstDash val="solid"/>
          </a:ln>
        </p:spPr>
      </p:sp>
      <p:pic>
        <p:nvPicPr>
          <p:cNvPr id="6" name="アイコン-161" descr="preencoded.png">    </p:cNvPr>
          <p:cNvPicPr>
            <a:picLocks noChangeAspect="1"/>
          </p:cNvPicPr>
          <p:nvPr/>
        </p:nvPicPr>
        <p:blipFill>
          <a:blip r:embed="rId2"/>
          <a:stretch>
            <a:fillRect/>
          </a:stretch>
        </p:blipFill>
        <p:spPr>
          <a:xfrm>
            <a:off x="6457950" y="1657350"/>
            <a:ext cx="297180" cy="297180"/>
          </a:xfrm>
          <a:prstGeom prst="rect">
            <a:avLst/>
          </a:prstGeom>
        </p:spPr>
      </p:pic>
      <p:sp>
        <p:nvSpPr>
          <p:cNvPr id="7" name="説明-162"/>
          <p:cNvSpPr txBox="1"/>
          <p:nvPr/>
        </p:nvSpPr>
        <p:spPr>
          <a:xfrm>
            <a:off x="7132320" y="1490472"/>
            <a:ext cx="4480560" cy="1051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見るだけ・編集できない</a:t>
            </a:r>
            <a:endParaRPr lang="en-US" sz="1700" dirty="0"/>
          </a:p>
          <a:p>
            <a:pPr indent="0" marL="0">
              <a:spcAft>
                <a:spcPts val="400"/>
              </a:spcAft>
              <a:buNone/>
            </a:pPr>
            <a:r>
              <a:rPr lang="en-US" sz="1400" dirty="0">
                <a:solidFill>
                  <a:schemeClr val="tx1"/>
                </a:solidFill>
              </a:rPr>
              <a:t>学校内のリンクを知っている全員が「閲覧者」です</a:t>
            </a:r>
            <a:endParaRPr lang="en-US" sz="1700" dirty="0"/>
          </a:p>
        </p:txBody>
      </p:sp>
      <p:sp>
        <p:nvSpPr>
          <p:cNvPr id="8" name="アイコンの円-163"/>
          <p:cNvSpPr/>
          <p:nvPr/>
        </p:nvSpPr>
        <p:spPr>
          <a:xfrm>
            <a:off x="6309360" y="2670048"/>
            <a:ext cx="594360" cy="594360"/>
          </a:xfrm>
          <a:prstGeom prst="ellipse">
            <a:avLst/>
          </a:prstGeom>
          <a:solidFill>
            <a:schemeClr val="accent1"/>
          </a:solidFill>
          <a:ln w="12700">
            <a:solidFill>
              <a:schemeClr val="accent1"/>
            </a:solidFill>
            <a:prstDash val="solid"/>
          </a:ln>
        </p:spPr>
      </p:sp>
      <p:pic>
        <p:nvPicPr>
          <p:cNvPr id="9" name="アイコン-164" descr="preencoded.png">    </p:cNvPr>
          <p:cNvPicPr>
            <a:picLocks noChangeAspect="1"/>
          </p:cNvPicPr>
          <p:nvPr/>
        </p:nvPicPr>
        <p:blipFill>
          <a:blip r:embed="rId3"/>
          <a:stretch>
            <a:fillRect/>
          </a:stretch>
        </p:blipFill>
        <p:spPr>
          <a:xfrm>
            <a:off x="6457950" y="2818638"/>
            <a:ext cx="297180" cy="297180"/>
          </a:xfrm>
          <a:prstGeom prst="rect">
            <a:avLst/>
          </a:prstGeom>
        </p:spPr>
      </p:pic>
      <p:sp>
        <p:nvSpPr>
          <p:cNvPr id="10" name="説明-165"/>
          <p:cNvSpPr txBox="1"/>
          <p:nvPr/>
        </p:nvSpPr>
        <p:spPr>
          <a:xfrm>
            <a:off x="7132320" y="2651760"/>
            <a:ext cx="4480560" cy="1051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出席番号と ✓ だけ</a:t>
            </a:r>
            <a:endParaRPr lang="en-US" sz="1700" dirty="0"/>
          </a:p>
          <a:p>
            <a:pPr indent="0" marL="0">
              <a:spcAft>
                <a:spcPts val="400"/>
              </a:spcAft>
              <a:buNone/>
            </a:pPr>
            <a:r>
              <a:rPr lang="en-US" sz="1400" dirty="0">
                <a:solidFill>
                  <a:schemeClr val="tx1"/>
                </a:solidFill>
              </a:rPr>
              <a:t>名前やメールアドレスは表示されません</a:t>
            </a:r>
            <a:endParaRPr lang="en-US" sz="1700" dirty="0"/>
          </a:p>
        </p:txBody>
      </p:sp>
      <p:sp>
        <p:nvSpPr>
          <p:cNvPr id="11" name="アイコンの円-166"/>
          <p:cNvSpPr/>
          <p:nvPr/>
        </p:nvSpPr>
        <p:spPr>
          <a:xfrm>
            <a:off x="6309360" y="3831336"/>
            <a:ext cx="594360" cy="594360"/>
          </a:xfrm>
          <a:prstGeom prst="ellipse">
            <a:avLst/>
          </a:prstGeom>
          <a:solidFill>
            <a:schemeClr val="accent1"/>
          </a:solidFill>
          <a:ln w="12700">
            <a:solidFill>
              <a:schemeClr val="accent1"/>
            </a:solidFill>
            <a:prstDash val="solid"/>
          </a:ln>
        </p:spPr>
      </p:sp>
      <p:pic>
        <p:nvPicPr>
          <p:cNvPr id="12" name="アイコン-167" descr="preencoded.png">    </p:cNvPr>
          <p:cNvPicPr>
            <a:picLocks noChangeAspect="1"/>
          </p:cNvPicPr>
          <p:nvPr/>
        </p:nvPicPr>
        <p:blipFill>
          <a:blip r:embed="rId4"/>
          <a:stretch>
            <a:fillRect/>
          </a:stretch>
        </p:blipFill>
        <p:spPr>
          <a:xfrm>
            <a:off x="6457950" y="3979926"/>
            <a:ext cx="297180" cy="297180"/>
          </a:xfrm>
          <a:prstGeom prst="rect">
            <a:avLst/>
          </a:prstGeom>
        </p:spPr>
      </p:pic>
      <p:sp>
        <p:nvSpPr>
          <p:cNvPr id="13" name="説明-168"/>
          <p:cNvSpPr txBox="1"/>
          <p:nvPr/>
        </p:nvSpPr>
        <p:spPr>
          <a:xfrm>
            <a:off x="7132320" y="3813048"/>
            <a:ext cx="4480560" cy="1051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自動で最新に</a:t>
            </a:r>
            <a:endParaRPr lang="en-US" sz="1700" dirty="0"/>
          </a:p>
          <a:p>
            <a:pPr indent="0" marL="0">
              <a:spcAft>
                <a:spcPts val="400"/>
              </a:spcAft>
              <a:buNone/>
            </a:pPr>
            <a:r>
              <a:rPr lang="en-US" sz="1400" dirty="0">
                <a:solidFill>
                  <a:schemeClr val="tx1"/>
                </a:solidFill>
              </a:rPr>
              <a:t>先生がチェックすると、開いている画面も更新されます</a:t>
            </a:r>
            <a:endParaRPr lang="en-US" sz="1700" dirty="0"/>
          </a:p>
        </p:txBody>
      </p:sp>
      <p:sp>
        <p:nvSpPr>
          <p:cNvPr id="14" name="アイコンの円-169"/>
          <p:cNvSpPr/>
          <p:nvPr/>
        </p:nvSpPr>
        <p:spPr>
          <a:xfrm>
            <a:off x="6309360" y="4992624"/>
            <a:ext cx="594360" cy="594360"/>
          </a:xfrm>
          <a:prstGeom prst="ellipse">
            <a:avLst/>
          </a:prstGeom>
          <a:solidFill>
            <a:schemeClr val="accent1"/>
          </a:solidFill>
          <a:ln w="12700">
            <a:solidFill>
              <a:schemeClr val="accent1"/>
            </a:solidFill>
            <a:prstDash val="solid"/>
          </a:ln>
        </p:spPr>
      </p:sp>
      <p:pic>
        <p:nvPicPr>
          <p:cNvPr id="15" name="アイコン-170" descr="preencoded.png">    </p:cNvPr>
          <p:cNvPicPr>
            <a:picLocks noChangeAspect="1"/>
          </p:cNvPicPr>
          <p:nvPr/>
        </p:nvPicPr>
        <p:blipFill>
          <a:blip r:embed="rId5"/>
          <a:stretch>
            <a:fillRect/>
          </a:stretch>
        </p:blipFill>
        <p:spPr>
          <a:xfrm>
            <a:off x="6457950" y="5141214"/>
            <a:ext cx="297180" cy="297180"/>
          </a:xfrm>
          <a:prstGeom prst="rect">
            <a:avLst/>
          </a:prstGeom>
        </p:spPr>
      </p:pic>
      <p:sp>
        <p:nvSpPr>
          <p:cNvPr id="16" name="説明-171"/>
          <p:cNvSpPr txBox="1"/>
          <p:nvPr/>
        </p:nvSpPr>
        <p:spPr>
          <a:xfrm>
            <a:off x="7132320" y="4974336"/>
            <a:ext cx="4480560" cy="1051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クラスごとに別ページ</a:t>
            </a:r>
            <a:endParaRPr lang="en-US" sz="1700" dirty="0"/>
          </a:p>
          <a:p>
            <a:pPr indent="0" marL="0">
              <a:spcAft>
                <a:spcPts val="400"/>
              </a:spcAft>
              <a:buNone/>
            </a:pPr>
            <a:r>
              <a:rPr lang="en-US" sz="1400" dirty="0">
                <a:solidFill>
                  <a:schemeClr val="tx1"/>
                </a:solidFill>
              </a:rPr>
              <a:t>ほかのクラスの状況は見えません</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複数の端末で使う・データを守る</a:t>
            </a:r>
            <a:endParaRPr lang="en-US" sz="3000" dirty="0"/>
          </a:p>
        </p:txBody>
      </p:sp>
      <p:sp>
        <p:nvSpPr>
          <p:cNvPr id="3" name="画面の枠-172"/>
          <p:cNvSpPr/>
          <p:nvPr/>
        </p:nvSpPr>
        <p:spPr>
          <a:xfrm>
            <a:off x="566928" y="1435608"/>
            <a:ext cx="6912864" cy="1837944"/>
          </a:xfrm>
          <a:prstGeom prst="roundRect">
            <a:avLst>
              <a:gd name="adj" fmla="val 3980"/>
            </a:avLst>
          </a:prstGeom>
          <a:solidFill>
            <a:schemeClr val="bg1"/>
          </a:solidFill>
          <a:ln w="12700">
            <a:solidFill>
              <a:srgbClr val="D9E2E0"/>
            </a:solidFill>
            <a:prstDash val="solid"/>
          </a:ln>
          <a:effectLst>
            <a:outerShdw sx="100000" sy="100000" kx="0" ky="0" algn="bl" rotWithShape="0" blurRad="101600" dist="25400" dir="5400000">
              <a:srgbClr val="000000">
                <a:alpha val="18000"/>
              </a:srgbClr>
            </a:outerShdw>
          </a:effectLst>
        </p:spPr>
      </p:sp>
      <p:pic>
        <p:nvPicPr>
          <p:cNvPr id="4" name="画面-173" descr="shots2/data.png">    </p:cNvPr>
          <p:cNvPicPr>
            <a:picLocks noChangeAspect="1"/>
          </p:cNvPicPr>
          <p:nvPr/>
        </p:nvPicPr>
        <p:blipFill>
          <a:blip r:embed="rId1"/>
          <a:stretch>
            <a:fillRect/>
          </a:stretch>
        </p:blipFill>
        <p:spPr>
          <a:xfrm>
            <a:off x="640080" y="1508760"/>
            <a:ext cx="6766560" cy="1691640"/>
          </a:xfrm>
          <a:prstGeom prst="rect">
            <a:avLst/>
          </a:prstGeom>
        </p:spPr>
      </p:pic>
      <p:sp>
        <p:nvSpPr>
          <p:cNvPr id="5" name="カード-174"/>
          <p:cNvSpPr/>
          <p:nvPr/>
        </p:nvSpPr>
        <p:spPr>
          <a:xfrm>
            <a:off x="7772400" y="1463040"/>
            <a:ext cx="3840480" cy="1463040"/>
          </a:xfrm>
          <a:prstGeom prst="roundRect">
            <a:avLst>
              <a:gd name="adj" fmla="val 7500"/>
            </a:avLst>
          </a:prstGeom>
          <a:solidFill>
            <a:schemeClr val="bg2"/>
          </a:solidFill>
          <a:ln w="12700">
            <a:solidFill>
              <a:schemeClr val="bg2"/>
            </a:solidFill>
            <a:prstDash val="solid"/>
          </a:ln>
        </p:spPr>
      </p:sp>
      <p:sp>
        <p:nvSpPr>
          <p:cNvPr id="6" name="説明-175"/>
          <p:cNvSpPr txBox="1"/>
          <p:nvPr/>
        </p:nvSpPr>
        <p:spPr>
          <a:xfrm>
            <a:off x="8001000" y="1600200"/>
            <a:ext cx="3383280" cy="118872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 最新に更新</a:t>
            </a:r>
            <a:endParaRPr lang="en-US" sz="1700" dirty="0"/>
          </a:p>
          <a:p>
            <a:pPr indent="0" marL="0">
              <a:spcAft>
                <a:spcPts val="400"/>
              </a:spcAft>
              <a:buNone/>
            </a:pPr>
            <a:r>
              <a:rPr lang="en-US" sz="1400" dirty="0">
                <a:solidFill>
                  <a:schemeClr val="tx1"/>
                </a:solidFill>
              </a:rPr>
              <a:t>ほかの端末で入力した内容を読み込みます。しばらく別の画面にいて戻ったときは自動で読み込みます。</a:t>
            </a:r>
            <a:endParaRPr lang="en-US" sz="1700" dirty="0"/>
          </a:p>
        </p:txBody>
      </p:sp>
      <p:sp>
        <p:nvSpPr>
          <p:cNvPr id="7" name="カード-176"/>
          <p:cNvSpPr/>
          <p:nvPr/>
        </p:nvSpPr>
        <p:spPr>
          <a:xfrm>
            <a:off x="7772400" y="3063240"/>
            <a:ext cx="3840480" cy="1371600"/>
          </a:xfrm>
          <a:prstGeom prst="roundRect">
            <a:avLst>
              <a:gd name="adj" fmla="val 8000"/>
            </a:avLst>
          </a:prstGeom>
          <a:solidFill>
            <a:schemeClr val="bg2"/>
          </a:solidFill>
          <a:ln w="12700">
            <a:solidFill>
              <a:schemeClr val="bg2"/>
            </a:solidFill>
            <a:prstDash val="solid"/>
          </a:ln>
        </p:spPr>
      </p:sp>
      <p:sp>
        <p:nvSpPr>
          <p:cNvPr id="8" name="説明-177"/>
          <p:cNvSpPr txBox="1"/>
          <p:nvPr/>
        </p:nvSpPr>
        <p:spPr>
          <a:xfrm>
            <a:off x="8001000" y="3200400"/>
            <a:ext cx="3383280" cy="10972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使用中のアカウント</a:t>
            </a:r>
            <a:endParaRPr lang="en-US" sz="1700" dirty="0"/>
          </a:p>
          <a:p>
            <a:pPr indent="0" marL="0">
              <a:spcAft>
                <a:spcPts val="400"/>
              </a:spcAft>
              <a:buNone/>
            </a:pPr>
            <a:r>
              <a:rPr lang="en-US" sz="1400" dirty="0">
                <a:solidFill>
                  <a:schemeClr val="tx1"/>
                </a:solidFill>
              </a:rPr>
              <a:t>「提出物」→「データ」に表示。データとメールの送り主はこのアカウントです。</a:t>
            </a:r>
            <a:endParaRPr lang="en-US" sz="1700" dirty="0"/>
          </a:p>
        </p:txBody>
      </p:sp>
      <p:sp>
        <p:nvSpPr>
          <p:cNvPr id="9" name="カード-178"/>
          <p:cNvSpPr/>
          <p:nvPr/>
        </p:nvSpPr>
        <p:spPr>
          <a:xfrm>
            <a:off x="7772400" y="4572000"/>
            <a:ext cx="3840480" cy="1508760"/>
          </a:xfrm>
          <a:prstGeom prst="roundRect">
            <a:avLst>
              <a:gd name="adj" fmla="val 7273"/>
            </a:avLst>
          </a:prstGeom>
          <a:solidFill>
            <a:schemeClr val="bg2"/>
          </a:solidFill>
          <a:ln w="12700">
            <a:solidFill>
              <a:schemeClr val="bg2"/>
            </a:solidFill>
            <a:prstDash val="solid"/>
          </a:ln>
        </p:spPr>
      </p:sp>
      <p:sp>
        <p:nvSpPr>
          <p:cNvPr id="10" name="説明-179"/>
          <p:cNvSpPr txBox="1"/>
          <p:nvPr/>
        </p:nvSpPr>
        <p:spPr>
          <a:xfrm>
            <a:off x="8001000" y="4709160"/>
            <a:ext cx="3383280" cy="123444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バックアップと復元</a:t>
            </a:r>
            <a:endParaRPr lang="en-US" sz="1700" dirty="0"/>
          </a:p>
          <a:p>
            <a:pPr indent="0" marL="0">
              <a:spcAft>
                <a:spcPts val="400"/>
              </a:spcAft>
              <a:buNone/>
            </a:pPr>
            <a:r>
              <a:rPr lang="en-US" sz="1400" dirty="0">
                <a:solidFill>
                  <a:schemeClr val="tx1"/>
                </a:solidFill>
              </a:rPr>
              <a:t>「バックアップを保存」でファイルに保存、「バックアップから復元」で戻せます。</a:t>
            </a:r>
            <a:endParaRPr lang="en-US" sz="1700" dirty="0"/>
          </a:p>
        </p:txBody>
      </p:sp>
      <p:sp>
        <p:nvSpPr>
          <p:cNvPr id="11" name="カード-180"/>
          <p:cNvSpPr/>
          <p:nvPr/>
        </p:nvSpPr>
        <p:spPr>
          <a:xfrm>
            <a:off x="640080" y="3657600"/>
            <a:ext cx="6766560" cy="2423160"/>
          </a:xfrm>
          <a:prstGeom prst="roundRect">
            <a:avLst>
              <a:gd name="adj" fmla="val 4528"/>
            </a:avLst>
          </a:prstGeom>
          <a:solidFill>
            <a:schemeClr val="bg2"/>
          </a:solidFill>
          <a:ln w="12700">
            <a:solidFill>
              <a:schemeClr val="bg2"/>
            </a:solidFill>
            <a:prstDash val="solid"/>
          </a:ln>
        </p:spPr>
      </p:sp>
      <p:sp>
        <p:nvSpPr>
          <p:cNvPr id="12" name="Text 9"/>
          <p:cNvSpPr txBox="1"/>
          <p:nvPr/>
        </p:nvSpPr>
        <p:spPr>
          <a:xfrm>
            <a:off x="868680" y="3840480"/>
            <a:ext cx="63093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同じGoogleアカウントなら、パソコン・iPad・Chromebookのどれからでも同じデータです</a:t>
            </a:r>
            <a:endParaRPr lang="en-US" sz="1400" dirty="0"/>
          </a:p>
          <a:p>
            <a:pPr marL="342900" indent="-342900">
              <a:spcAft>
                <a:spcPts val="800"/>
              </a:spcAft>
              <a:buSzPct val="100000"/>
              <a:buChar char="•"/>
            </a:pPr>
            <a:r>
              <a:rPr lang="en-US" sz="1400" dirty="0">
                <a:solidFill>
                  <a:schemeClr val="tx1"/>
                </a:solidFill>
              </a:rPr>
              <a:t>データは自分のGoogleドライブの「提出物チェッカー データ」に保存されます</a:t>
            </a:r>
            <a:endParaRPr lang="en-US" sz="1400" dirty="0"/>
          </a:p>
          <a:p>
            <a:pPr marL="342900" indent="-342900">
              <a:spcAft>
                <a:spcPts val="800"/>
              </a:spcAft>
              <a:buSzPct val="100000"/>
              <a:buChar char="•"/>
            </a:pPr>
            <a:r>
              <a:rPr lang="en-US" sz="1400" dirty="0">
                <a:solidFill>
                  <a:schemeClr val="tx1"/>
                </a:solidFill>
              </a:rPr>
              <a:t>「サンプルデータを入れる」「初期化」は今のデータを消すので注意</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よくある質問</a:t>
            </a:r>
            <a:endParaRPr lang="en-US" sz="3000" dirty="0"/>
          </a:p>
        </p:txBody>
      </p:sp>
      <p:sp>
        <p:nvSpPr>
          <p:cNvPr id="3" name="カード-181"/>
          <p:cNvSpPr/>
          <p:nvPr/>
        </p:nvSpPr>
        <p:spPr>
          <a:xfrm>
            <a:off x="548640" y="1463040"/>
            <a:ext cx="5440680" cy="2148840"/>
          </a:xfrm>
          <a:prstGeom prst="roundRect">
            <a:avLst>
              <a:gd name="adj" fmla="val 5106"/>
            </a:avLst>
          </a:prstGeom>
          <a:solidFill>
            <a:schemeClr val="bg2"/>
          </a:solidFill>
          <a:ln w="12700">
            <a:solidFill>
              <a:schemeClr val="bg2"/>
            </a:solidFill>
            <a:prstDash val="solid"/>
          </a:ln>
        </p:spPr>
      </p:sp>
      <p:sp>
        <p:nvSpPr>
          <p:cNvPr id="4" name="アイコンの円-182"/>
          <p:cNvSpPr/>
          <p:nvPr/>
        </p:nvSpPr>
        <p:spPr>
          <a:xfrm>
            <a:off x="822960" y="1737360"/>
            <a:ext cx="548640" cy="548640"/>
          </a:xfrm>
          <a:prstGeom prst="ellipse">
            <a:avLst/>
          </a:prstGeom>
          <a:solidFill>
            <a:schemeClr val="accent1"/>
          </a:solidFill>
          <a:ln w="12700">
            <a:solidFill>
              <a:schemeClr val="accent1"/>
            </a:solidFill>
            <a:prstDash val="solid"/>
          </a:ln>
        </p:spPr>
      </p:sp>
      <p:pic>
        <p:nvPicPr>
          <p:cNvPr id="5" name="アイコン-183" descr="preencoded.png">    </p:cNvPr>
          <p:cNvPicPr>
            <a:picLocks noChangeAspect="1"/>
          </p:cNvPicPr>
          <p:nvPr/>
        </p:nvPicPr>
        <p:blipFill>
          <a:blip r:embed="rId1"/>
          <a:stretch>
            <a:fillRect/>
          </a:stretch>
        </p:blipFill>
        <p:spPr>
          <a:xfrm>
            <a:off x="960120" y="1874520"/>
            <a:ext cx="274320" cy="274320"/>
          </a:xfrm>
          <a:prstGeom prst="rect">
            <a:avLst/>
          </a:prstGeom>
        </p:spPr>
      </p:pic>
      <p:sp>
        <p:nvSpPr>
          <p:cNvPr id="6" name="Text 3"/>
          <p:cNvSpPr txBox="1"/>
          <p:nvPr/>
        </p:nvSpPr>
        <p:spPr>
          <a:xfrm>
            <a:off x="1554480" y="1783080"/>
            <a:ext cx="4206240" cy="457200"/>
          </a:xfrm>
          <a:prstGeom prst="rect">
            <a:avLst/>
          </a:prstGeom>
          <a:noFill/>
          <a:ln/>
        </p:spPr>
        <p:txBody>
          <a:bodyPr wrap="square" lIns="0" tIns="0" rIns="0" bIns="0" rtlCol="0" anchor="ctr"/>
          <a:lstStyle/>
          <a:p>
            <a:pPr indent="0" marL="0">
              <a:buNone/>
            </a:pPr>
            <a:r>
              <a:rPr lang="en-US" sz="1700" b="1" dirty="0">
                <a:solidFill>
                  <a:schemeClr val="tx2"/>
                </a:solidFill>
              </a:rPr>
              <a:t>URLを開いてもエラーになる</a:t>
            </a:r>
            <a:endParaRPr lang="en-US" sz="1700" dirty="0"/>
          </a:p>
        </p:txBody>
      </p:sp>
      <p:sp>
        <p:nvSpPr>
          <p:cNvPr id="7" name="Text 4"/>
          <p:cNvSpPr txBox="1"/>
          <p:nvPr/>
        </p:nvSpPr>
        <p:spPr>
          <a:xfrm>
            <a:off x="822960" y="2423160"/>
            <a:ext cx="4892040" cy="1051560"/>
          </a:xfrm>
          <a:prstGeom prst="rect">
            <a:avLst/>
          </a:prstGeom>
          <a:noFill/>
          <a:ln/>
        </p:spPr>
        <p:txBody>
          <a:bodyPr wrap="square" lIns="0" tIns="0" rIns="0" bIns="0" rtlCol="0" anchor="t"/>
          <a:lstStyle/>
          <a:p>
            <a:pPr indent="0" marL="0">
              <a:buNone/>
            </a:pPr>
            <a:r>
              <a:rPr lang="en-US" sz="1400" dirty="0">
                <a:solidFill>
                  <a:schemeClr val="tx1"/>
                </a:solidFill>
              </a:rPr>
              <a:t>複数のアカウントでログインしていると起きます。シークレットウィンドウで学校のアカウントだけでログインして開いてください。</a:t>
            </a:r>
            <a:endParaRPr lang="en-US" sz="1400" dirty="0"/>
          </a:p>
        </p:txBody>
      </p:sp>
      <p:sp>
        <p:nvSpPr>
          <p:cNvPr id="8" name="カード-184"/>
          <p:cNvSpPr/>
          <p:nvPr/>
        </p:nvSpPr>
        <p:spPr>
          <a:xfrm>
            <a:off x="6172200" y="1463040"/>
            <a:ext cx="5440680" cy="2148840"/>
          </a:xfrm>
          <a:prstGeom prst="roundRect">
            <a:avLst>
              <a:gd name="adj" fmla="val 5106"/>
            </a:avLst>
          </a:prstGeom>
          <a:solidFill>
            <a:schemeClr val="bg2"/>
          </a:solidFill>
          <a:ln w="12700">
            <a:solidFill>
              <a:schemeClr val="bg2"/>
            </a:solidFill>
            <a:prstDash val="solid"/>
          </a:ln>
        </p:spPr>
      </p:sp>
      <p:sp>
        <p:nvSpPr>
          <p:cNvPr id="9" name="アイコンの円-185"/>
          <p:cNvSpPr/>
          <p:nvPr/>
        </p:nvSpPr>
        <p:spPr>
          <a:xfrm>
            <a:off x="6446520" y="1737360"/>
            <a:ext cx="548640" cy="548640"/>
          </a:xfrm>
          <a:prstGeom prst="ellipse">
            <a:avLst/>
          </a:prstGeom>
          <a:solidFill>
            <a:schemeClr val="accent1"/>
          </a:solidFill>
          <a:ln w="12700">
            <a:solidFill>
              <a:schemeClr val="accent1"/>
            </a:solidFill>
            <a:prstDash val="solid"/>
          </a:ln>
        </p:spPr>
      </p:sp>
      <p:pic>
        <p:nvPicPr>
          <p:cNvPr id="10" name="アイコン-186" descr="preencoded.png">    </p:cNvPr>
          <p:cNvPicPr>
            <a:picLocks noChangeAspect="1"/>
          </p:cNvPicPr>
          <p:nvPr/>
        </p:nvPicPr>
        <p:blipFill>
          <a:blip r:embed="rId2"/>
          <a:stretch>
            <a:fillRect/>
          </a:stretch>
        </p:blipFill>
        <p:spPr>
          <a:xfrm>
            <a:off x="6583680" y="1874520"/>
            <a:ext cx="274320" cy="274320"/>
          </a:xfrm>
          <a:prstGeom prst="rect">
            <a:avLst/>
          </a:prstGeom>
        </p:spPr>
      </p:pic>
      <p:sp>
        <p:nvSpPr>
          <p:cNvPr id="11" name="Text 7"/>
          <p:cNvSpPr txBox="1"/>
          <p:nvPr/>
        </p:nvSpPr>
        <p:spPr>
          <a:xfrm>
            <a:off x="7178040" y="1783080"/>
            <a:ext cx="4206240" cy="457200"/>
          </a:xfrm>
          <a:prstGeom prst="rect">
            <a:avLst/>
          </a:prstGeom>
          <a:noFill/>
          <a:ln/>
        </p:spPr>
        <p:txBody>
          <a:bodyPr wrap="square" lIns="0" tIns="0" rIns="0" bIns="0" rtlCol="0" anchor="ctr"/>
          <a:lstStyle/>
          <a:p>
            <a:pPr indent="0" marL="0">
              <a:buNone/>
            </a:pPr>
            <a:r>
              <a:rPr lang="en-US" sz="1700" b="1" dirty="0">
                <a:solidFill>
                  <a:schemeClr val="tx2"/>
                </a:solidFill>
              </a:rPr>
              <a:t>ほかの先生にデータは見える？</a:t>
            </a:r>
            <a:endParaRPr lang="en-US" sz="1700" dirty="0"/>
          </a:p>
        </p:txBody>
      </p:sp>
      <p:sp>
        <p:nvSpPr>
          <p:cNvPr id="12" name="Text 8"/>
          <p:cNvSpPr txBox="1"/>
          <p:nvPr/>
        </p:nvSpPr>
        <p:spPr>
          <a:xfrm>
            <a:off x="6446520" y="2423160"/>
            <a:ext cx="4892040" cy="1051560"/>
          </a:xfrm>
          <a:prstGeom prst="rect">
            <a:avLst/>
          </a:prstGeom>
          <a:noFill/>
          <a:ln/>
        </p:spPr>
        <p:txBody>
          <a:bodyPr wrap="square" lIns="0" tIns="0" rIns="0" bIns="0" rtlCol="0" anchor="t"/>
          <a:lstStyle/>
          <a:p>
            <a:pPr indent="0" marL="0">
              <a:buNone/>
            </a:pPr>
            <a:r>
              <a:rPr lang="en-US" sz="1400" dirty="0">
                <a:solidFill>
                  <a:schemeClr val="tx1"/>
                </a:solidFill>
              </a:rPr>
              <a:t>見えません。データは先生ごとに、自分のGoogleドライブに保存されます。</a:t>
            </a:r>
            <a:endParaRPr lang="en-US" sz="1400" dirty="0"/>
          </a:p>
        </p:txBody>
      </p:sp>
      <p:sp>
        <p:nvSpPr>
          <p:cNvPr id="13" name="カード-187"/>
          <p:cNvSpPr/>
          <p:nvPr/>
        </p:nvSpPr>
        <p:spPr>
          <a:xfrm>
            <a:off x="548640" y="3840480"/>
            <a:ext cx="5440680" cy="2148840"/>
          </a:xfrm>
          <a:prstGeom prst="roundRect">
            <a:avLst>
              <a:gd name="adj" fmla="val 5106"/>
            </a:avLst>
          </a:prstGeom>
          <a:solidFill>
            <a:schemeClr val="bg2"/>
          </a:solidFill>
          <a:ln w="12700">
            <a:solidFill>
              <a:schemeClr val="bg2"/>
            </a:solidFill>
            <a:prstDash val="solid"/>
          </a:ln>
        </p:spPr>
      </p:sp>
      <p:sp>
        <p:nvSpPr>
          <p:cNvPr id="14" name="アイコンの円-188"/>
          <p:cNvSpPr/>
          <p:nvPr/>
        </p:nvSpPr>
        <p:spPr>
          <a:xfrm>
            <a:off x="822960" y="4114800"/>
            <a:ext cx="548640" cy="548640"/>
          </a:xfrm>
          <a:prstGeom prst="ellipse">
            <a:avLst/>
          </a:prstGeom>
          <a:solidFill>
            <a:schemeClr val="accent1"/>
          </a:solidFill>
          <a:ln w="12700">
            <a:solidFill>
              <a:schemeClr val="accent1"/>
            </a:solidFill>
            <a:prstDash val="solid"/>
          </a:ln>
        </p:spPr>
      </p:sp>
      <p:pic>
        <p:nvPicPr>
          <p:cNvPr id="15" name="アイコン-189" descr="preencoded.png">    </p:cNvPr>
          <p:cNvPicPr>
            <a:picLocks noChangeAspect="1"/>
          </p:cNvPicPr>
          <p:nvPr/>
        </p:nvPicPr>
        <p:blipFill>
          <a:blip r:embed="rId3"/>
          <a:stretch>
            <a:fillRect/>
          </a:stretch>
        </p:blipFill>
        <p:spPr>
          <a:xfrm>
            <a:off x="960120" y="4251960"/>
            <a:ext cx="274320" cy="274320"/>
          </a:xfrm>
          <a:prstGeom prst="rect">
            <a:avLst/>
          </a:prstGeom>
        </p:spPr>
      </p:pic>
      <p:sp>
        <p:nvSpPr>
          <p:cNvPr id="16" name="Text 11"/>
          <p:cNvSpPr txBox="1"/>
          <p:nvPr/>
        </p:nvSpPr>
        <p:spPr>
          <a:xfrm>
            <a:off x="1554480" y="4160520"/>
            <a:ext cx="4206240" cy="457200"/>
          </a:xfrm>
          <a:prstGeom prst="rect">
            <a:avLst/>
          </a:prstGeom>
          <a:noFill/>
          <a:ln/>
        </p:spPr>
        <p:txBody>
          <a:bodyPr wrap="square" lIns="0" tIns="0" rIns="0" bIns="0" rtlCol="0" anchor="ctr"/>
          <a:lstStyle/>
          <a:p>
            <a:pPr indent="0" marL="0">
              <a:buNone/>
            </a:pPr>
            <a:r>
              <a:rPr lang="en-US" sz="1700" b="1" dirty="0">
                <a:solidFill>
                  <a:schemeClr val="tx2"/>
                </a:solidFill>
              </a:rPr>
              <a:t>生徒の名前は必要？</a:t>
            </a:r>
            <a:endParaRPr lang="en-US" sz="1700" dirty="0"/>
          </a:p>
        </p:txBody>
      </p:sp>
      <p:sp>
        <p:nvSpPr>
          <p:cNvPr id="17" name="Text 12"/>
          <p:cNvSpPr txBox="1"/>
          <p:nvPr/>
        </p:nvSpPr>
        <p:spPr>
          <a:xfrm>
            <a:off x="822960" y="4800600"/>
            <a:ext cx="4892040" cy="1051560"/>
          </a:xfrm>
          <a:prstGeom prst="rect">
            <a:avLst/>
          </a:prstGeom>
          <a:noFill/>
          <a:ln/>
        </p:spPr>
        <p:txBody>
          <a:bodyPr wrap="square" lIns="0" tIns="0" rIns="0" bIns="0" rtlCol="0" anchor="t"/>
          <a:lstStyle/>
          <a:p>
            <a:pPr indent="0" marL="0">
              <a:buNone/>
            </a:pPr>
            <a:r>
              <a:rPr lang="en-US" sz="1400" dirty="0">
                <a:solidFill>
                  <a:schemeClr val="tx1"/>
                </a:solidFill>
              </a:rPr>
              <a:t>不要です。出席番号だけで全部の機能が使えます。入れるかどうかは学校のルールに合わせてください。</a:t>
            </a:r>
            <a:endParaRPr lang="en-US" sz="1400" dirty="0"/>
          </a:p>
        </p:txBody>
      </p:sp>
      <p:sp>
        <p:nvSpPr>
          <p:cNvPr id="18" name="カード-190"/>
          <p:cNvSpPr/>
          <p:nvPr/>
        </p:nvSpPr>
        <p:spPr>
          <a:xfrm>
            <a:off x="6172200" y="3840480"/>
            <a:ext cx="5440680" cy="2148840"/>
          </a:xfrm>
          <a:prstGeom prst="roundRect">
            <a:avLst>
              <a:gd name="adj" fmla="val 5106"/>
            </a:avLst>
          </a:prstGeom>
          <a:solidFill>
            <a:schemeClr val="bg2"/>
          </a:solidFill>
          <a:ln w="12700">
            <a:solidFill>
              <a:schemeClr val="bg2"/>
            </a:solidFill>
            <a:prstDash val="solid"/>
          </a:ln>
        </p:spPr>
      </p:sp>
      <p:sp>
        <p:nvSpPr>
          <p:cNvPr id="19" name="アイコンの円-191"/>
          <p:cNvSpPr/>
          <p:nvPr/>
        </p:nvSpPr>
        <p:spPr>
          <a:xfrm>
            <a:off x="6446520" y="4114800"/>
            <a:ext cx="548640" cy="548640"/>
          </a:xfrm>
          <a:prstGeom prst="ellipse">
            <a:avLst/>
          </a:prstGeom>
          <a:solidFill>
            <a:schemeClr val="accent1"/>
          </a:solidFill>
          <a:ln w="12700">
            <a:solidFill>
              <a:schemeClr val="accent1"/>
            </a:solidFill>
            <a:prstDash val="solid"/>
          </a:ln>
        </p:spPr>
      </p:sp>
      <p:pic>
        <p:nvPicPr>
          <p:cNvPr id="20" name="アイコン-192" descr="preencoded.png">    </p:cNvPr>
          <p:cNvPicPr>
            <a:picLocks noChangeAspect="1"/>
          </p:cNvPicPr>
          <p:nvPr/>
        </p:nvPicPr>
        <p:blipFill>
          <a:blip r:embed="rId4"/>
          <a:stretch>
            <a:fillRect/>
          </a:stretch>
        </p:blipFill>
        <p:spPr>
          <a:xfrm>
            <a:off x="6583680" y="4251960"/>
            <a:ext cx="274320" cy="274320"/>
          </a:xfrm>
          <a:prstGeom prst="rect">
            <a:avLst/>
          </a:prstGeom>
        </p:spPr>
      </p:pic>
      <p:sp>
        <p:nvSpPr>
          <p:cNvPr id="21" name="Text 15"/>
          <p:cNvSpPr txBox="1"/>
          <p:nvPr/>
        </p:nvSpPr>
        <p:spPr>
          <a:xfrm>
            <a:off x="7178040" y="4160520"/>
            <a:ext cx="4206240" cy="457200"/>
          </a:xfrm>
          <a:prstGeom prst="rect">
            <a:avLst/>
          </a:prstGeom>
          <a:noFill/>
          <a:ln/>
        </p:spPr>
        <p:txBody>
          <a:bodyPr wrap="square" lIns="0" tIns="0" rIns="0" bIns="0" rtlCol="0" anchor="ctr"/>
          <a:lstStyle/>
          <a:p>
            <a:pPr indent="0" marL="0">
              <a:buNone/>
            </a:pPr>
            <a:r>
              <a:rPr lang="en-US" sz="1700" b="1" dirty="0">
                <a:solidFill>
                  <a:schemeClr val="tx2"/>
                </a:solidFill>
              </a:rPr>
              <a:t>メールが送れない</a:t>
            </a:r>
            <a:endParaRPr lang="en-US" sz="1700" dirty="0"/>
          </a:p>
        </p:txBody>
      </p:sp>
      <p:sp>
        <p:nvSpPr>
          <p:cNvPr id="22" name="Text 16"/>
          <p:cNvSpPr txBox="1"/>
          <p:nvPr/>
        </p:nvSpPr>
        <p:spPr>
          <a:xfrm>
            <a:off x="6446520" y="4800600"/>
            <a:ext cx="4892040" cy="1051560"/>
          </a:xfrm>
          <a:prstGeom prst="rect">
            <a:avLst/>
          </a:prstGeom>
          <a:noFill/>
          <a:ln/>
        </p:spPr>
        <p:txBody>
          <a:bodyPr wrap="square" lIns="0" tIns="0" rIns="0" bIns="0" rtlCol="0" anchor="t"/>
          <a:lstStyle/>
          <a:p>
            <a:pPr indent="0" marL="0">
              <a:buNone/>
            </a:pPr>
            <a:r>
              <a:rPr lang="en-US" sz="1400" dirty="0">
                <a:solidFill>
                  <a:schemeClr val="tx1"/>
                </a:solidFill>
              </a:rPr>
              <a:t>メール未登録の生徒には送れません。手紙の印刷で「メール未登録の生徒だけ」を選んで補えます。</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（管理する先生向け）バージョンアップの手順</a:t>
            </a:r>
            <a:endParaRPr lang="en-US" sz="3000" dirty="0"/>
          </a:p>
        </p:txBody>
      </p:sp>
      <p:sp>
        <p:nvSpPr>
          <p:cNvPr id="3" name="番号-193"/>
          <p:cNvSpPr/>
          <p:nvPr/>
        </p:nvSpPr>
        <p:spPr>
          <a:xfrm>
            <a:off x="548640" y="15544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手順-194"/>
          <p:cNvSpPr txBox="1"/>
          <p:nvPr/>
        </p:nvSpPr>
        <p:spPr>
          <a:xfrm>
            <a:off x="1188720" y="1481328"/>
            <a:ext cx="576072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最新のプログラムをコピー</a:t>
            </a:r>
            <a:endParaRPr lang="en-US" sz="1700" dirty="0"/>
          </a:p>
          <a:p>
            <a:pPr indent="0" marL="0">
              <a:spcAft>
                <a:spcPts val="200"/>
              </a:spcAft>
              <a:buNone/>
            </a:pPr>
            <a:r>
              <a:rPr lang="en-US" sz="1400" dirty="0">
                <a:solidFill>
                  <a:schemeClr val="accent6"/>
                </a:solidFill>
              </a:rPr>
              <a:t>GitHubの raw ページで Ctrl+A → Ctrl+C</a:t>
            </a:r>
            <a:endParaRPr lang="en-US" sz="1700" dirty="0"/>
          </a:p>
        </p:txBody>
      </p:sp>
      <p:sp>
        <p:nvSpPr>
          <p:cNvPr id="6" name="番号-195"/>
          <p:cNvSpPr/>
          <p:nvPr/>
        </p:nvSpPr>
        <p:spPr>
          <a:xfrm>
            <a:off x="548640" y="26974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手順-196"/>
          <p:cNvSpPr txBox="1"/>
          <p:nvPr/>
        </p:nvSpPr>
        <p:spPr>
          <a:xfrm>
            <a:off x="1188720" y="2624328"/>
            <a:ext cx="576072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Apps Scriptに貼り替えて保存</a:t>
            </a:r>
            <a:endParaRPr lang="en-US" sz="1700" dirty="0"/>
          </a:p>
          <a:p>
            <a:pPr indent="0" marL="0">
              <a:spcAft>
                <a:spcPts val="200"/>
              </a:spcAft>
              <a:buNone/>
            </a:pPr>
            <a:r>
              <a:rPr lang="en-US" sz="1400" dirty="0">
                <a:solidFill>
                  <a:schemeClr val="accent6"/>
                </a:solidFill>
              </a:rPr>
              <a:t>学校のアカウントだけでログインした状態で、Ctrl+A → 貼り付け</a:t>
            </a:r>
            <a:endParaRPr lang="en-US" sz="1700" dirty="0"/>
          </a:p>
        </p:txBody>
      </p:sp>
      <p:sp>
        <p:nvSpPr>
          <p:cNvPr id="9" name="番号-197"/>
          <p:cNvSpPr/>
          <p:nvPr/>
        </p:nvSpPr>
        <p:spPr>
          <a:xfrm>
            <a:off x="548640" y="3840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手順-198"/>
          <p:cNvSpPr txBox="1"/>
          <p:nvPr/>
        </p:nvSpPr>
        <p:spPr>
          <a:xfrm>
            <a:off x="1188720" y="3767328"/>
            <a:ext cx="576072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許可が増えたときは authorize を実行</a:t>
            </a:r>
            <a:endParaRPr lang="en-US" sz="1700" dirty="0"/>
          </a:p>
          <a:p>
            <a:pPr indent="0" marL="0">
              <a:spcAft>
                <a:spcPts val="200"/>
              </a:spcAft>
              <a:buNone/>
            </a:pPr>
            <a:r>
              <a:rPr lang="en-US" sz="1400" dirty="0">
                <a:solidFill>
                  <a:schemeClr val="accent6"/>
                </a:solidFill>
              </a:rPr>
              <a:t>関数の選択で authorize →「▷ 実行」→ 許可</a:t>
            </a:r>
            <a:endParaRPr lang="en-US" sz="1700" dirty="0"/>
          </a:p>
        </p:txBody>
      </p:sp>
      <p:sp>
        <p:nvSpPr>
          <p:cNvPr id="12" name="番号-199"/>
          <p:cNvSpPr/>
          <p:nvPr/>
        </p:nvSpPr>
        <p:spPr>
          <a:xfrm>
            <a:off x="548640" y="498348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手順-200"/>
          <p:cNvSpPr txBox="1"/>
          <p:nvPr/>
        </p:nvSpPr>
        <p:spPr>
          <a:xfrm>
            <a:off x="1188720" y="4910328"/>
            <a:ext cx="5760720" cy="1051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「デプロイを管理」で「新バージョン」に</a:t>
            </a:r>
            <a:endParaRPr lang="en-US" sz="1700" dirty="0"/>
          </a:p>
          <a:p>
            <a:pPr indent="0" marL="0">
              <a:spcAft>
                <a:spcPts val="200"/>
              </a:spcAft>
              <a:buNone/>
            </a:pPr>
            <a:r>
              <a:rPr lang="en-US" sz="1400" dirty="0">
                <a:solidFill>
                  <a:schemeClr val="accent6"/>
                </a:solidFill>
              </a:rPr>
              <a:t>鉛筆マーク（編集）→ バージョン「新バージョン」→「デプロイ」</a:t>
            </a:r>
            <a:endParaRPr lang="en-US" sz="1700" dirty="0"/>
          </a:p>
        </p:txBody>
      </p:sp>
      <p:sp>
        <p:nvSpPr>
          <p:cNvPr id="15" name="カード-201"/>
          <p:cNvSpPr/>
          <p:nvPr/>
        </p:nvSpPr>
        <p:spPr>
          <a:xfrm>
            <a:off x="7315200" y="1463040"/>
            <a:ext cx="4297680" cy="1554480"/>
          </a:xfrm>
          <a:prstGeom prst="roundRect">
            <a:avLst>
              <a:gd name="adj" fmla="val 7059"/>
            </a:avLst>
          </a:prstGeom>
          <a:solidFill>
            <a:srgbClr val="FDF3E1"/>
          </a:solidFill>
          <a:ln w="12700">
            <a:solidFill>
              <a:srgbClr val="FDF3E1"/>
            </a:solidFill>
            <a:prstDash val="solid"/>
          </a:ln>
        </p:spPr>
      </p:sp>
      <p:sp>
        <p:nvSpPr>
          <p:cNvPr id="16" name="説明-202"/>
          <p:cNvSpPr txBox="1"/>
          <p:nvPr/>
        </p:nvSpPr>
        <p:spPr>
          <a:xfrm>
            <a:off x="7543800" y="1600200"/>
            <a:ext cx="3840480" cy="12801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「新しいデプロイ」は選ばない</a:t>
            </a:r>
            <a:endParaRPr lang="en-US" sz="1700" dirty="0"/>
          </a:p>
          <a:p>
            <a:pPr indent="0" marL="0">
              <a:spcAft>
                <a:spcPts val="400"/>
              </a:spcAft>
              <a:buNone/>
            </a:pPr>
            <a:r>
              <a:rPr lang="en-US" sz="1400" dirty="0">
                <a:solidFill>
                  <a:schemeClr val="tx1"/>
                </a:solidFill>
              </a:rPr>
              <a:t>別のURLができてしまい、ほかの先生が使っている元のURLは古いままになります。</a:t>
            </a:r>
            <a:endParaRPr lang="en-US" sz="1700" dirty="0"/>
          </a:p>
        </p:txBody>
      </p:sp>
      <p:sp>
        <p:nvSpPr>
          <p:cNvPr id="17" name="カード-203"/>
          <p:cNvSpPr/>
          <p:nvPr/>
        </p:nvSpPr>
        <p:spPr>
          <a:xfrm>
            <a:off x="7315200" y="3200400"/>
            <a:ext cx="4297680" cy="1554480"/>
          </a:xfrm>
          <a:prstGeom prst="roundRect">
            <a:avLst>
              <a:gd name="adj" fmla="val 7059"/>
            </a:avLst>
          </a:prstGeom>
          <a:solidFill>
            <a:schemeClr val="bg2"/>
          </a:solidFill>
          <a:ln w="12700">
            <a:solidFill>
              <a:schemeClr val="bg2"/>
            </a:solidFill>
            <a:prstDash val="solid"/>
          </a:ln>
        </p:spPr>
      </p:sp>
      <p:sp>
        <p:nvSpPr>
          <p:cNvPr id="18" name="説明-204"/>
          <p:cNvSpPr txBox="1"/>
          <p:nvPr/>
        </p:nvSpPr>
        <p:spPr>
          <a:xfrm>
            <a:off x="7543800" y="3337560"/>
            <a:ext cx="3840480" cy="12801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ほかの先生は開き直すだけ</a:t>
            </a:r>
            <a:endParaRPr lang="en-US" sz="1700" dirty="0"/>
          </a:p>
          <a:p>
            <a:pPr indent="0" marL="0">
              <a:spcAft>
                <a:spcPts val="400"/>
              </a:spcAft>
              <a:buNone/>
            </a:pPr>
            <a:r>
              <a:rPr lang="en-US" sz="1400" dirty="0">
                <a:solidFill>
                  <a:schemeClr val="tx1"/>
                </a:solidFill>
              </a:rPr>
              <a:t>ページを再読み込みすれば新しいバージョンになります。許可の画面が出たら「許可」を押してもらいます。</a:t>
            </a:r>
            <a:endParaRPr lang="en-US" sz="1700" dirty="0"/>
          </a:p>
        </p:txBody>
      </p:sp>
      <p:sp>
        <p:nvSpPr>
          <p:cNvPr id="19" name="カード-205"/>
          <p:cNvSpPr/>
          <p:nvPr/>
        </p:nvSpPr>
        <p:spPr>
          <a:xfrm>
            <a:off x="7315200" y="4937760"/>
            <a:ext cx="4297680" cy="1143000"/>
          </a:xfrm>
          <a:prstGeom prst="roundRect">
            <a:avLst>
              <a:gd name="adj" fmla="val 9600"/>
            </a:avLst>
          </a:prstGeom>
          <a:solidFill>
            <a:schemeClr val="bg2"/>
          </a:solidFill>
          <a:ln w="12700">
            <a:solidFill>
              <a:schemeClr val="bg2"/>
            </a:solidFill>
            <a:prstDash val="solid"/>
          </a:ln>
        </p:spPr>
      </p:sp>
      <p:sp>
        <p:nvSpPr>
          <p:cNvPr id="20" name="説明-206"/>
          <p:cNvSpPr txBox="1"/>
          <p:nvPr/>
        </p:nvSpPr>
        <p:spPr>
          <a:xfrm>
            <a:off x="7543800" y="5074920"/>
            <a:ext cx="3840480" cy="8686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データは消えません</a:t>
            </a:r>
            <a:endParaRPr lang="en-US" sz="1700" dirty="0"/>
          </a:p>
          <a:p>
            <a:pPr indent="0" marL="0">
              <a:spcAft>
                <a:spcPts val="400"/>
              </a:spcAft>
              <a:buNone/>
            </a:pPr>
            <a:r>
              <a:rPr lang="en-US" sz="1400" dirty="0">
                <a:solidFill>
                  <a:schemeClr val="tx1"/>
                </a:solidFill>
              </a:rPr>
              <a:t>各先生のクラス・記録・メールアドレスは、そのまま残ります。</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5852160" cy="1828800"/>
          </a:xfrm>
          <a:prstGeom prst="rect">
            <a:avLst/>
          </a:prstGeom>
          <a:noFill/>
          <a:ln/>
        </p:spPr>
        <p:txBody>
          <a:bodyPr wrap="square" lIns="0" tIns="0" rIns="0" bIns="0" rtlCol="0" anchor="b"/>
          <a:lstStyle/>
          <a:p>
            <a:pPr algn="l" indent="0" marL="0">
              <a:buNone/>
            </a:pPr>
            <a:r>
              <a:rPr lang="en-US" sz="4000" b="1" dirty="0">
                <a:solidFill>
                  <a:schemeClr val="bg1"/>
                </a:solidFill>
              </a:rPr>
              <a:t>まずは提出物を</a:t>
            </a:r>
            <a:endParaRPr lang="en-US" sz="4000" dirty="0"/>
          </a:p>
          <a:p>
            <a:pPr algn="l" indent="0" marL="0">
              <a:buNone/>
            </a:pPr>
            <a:r>
              <a:rPr lang="en-US" sz="4000" b="1" dirty="0">
                <a:solidFill>
                  <a:schemeClr val="bg1"/>
                </a:solidFill>
              </a:rPr>
              <a:t>一つ登録してみましょう</a:t>
            </a:r>
            <a:endParaRPr lang="en-US" sz="4000" dirty="0"/>
          </a:p>
        </p:txBody>
      </p:sp>
      <p:sp>
        <p:nvSpPr>
          <p:cNvPr id="3" name="Text 0"/>
          <p:cNvSpPr/>
          <p:nvPr>
            <p:ph idx="101" type="body" hasCustomPrompt="1"/>
          </p:nvPr>
        </p:nvSpPr>
        <p:spPr>
          <a:xfrm>
            <a:off x="640080" y="3566160"/>
            <a:ext cx="5943600" cy="1463040"/>
          </a:xfrm>
          <a:prstGeom prst="rect">
            <a:avLst/>
          </a:prstGeom>
          <a:noFill/>
          <a:ln/>
        </p:spPr>
        <p:txBody>
          <a:bodyPr wrap="square" lIns="0" tIns="0" rIns="0" bIns="0" rtlCol="0" anchor="t"/>
          <a:lstStyle/>
          <a:p>
            <a:pPr algn="l" indent="0" marL="0">
              <a:buNone/>
            </a:pPr>
            <a:r>
              <a:rPr lang="en-US" sz="1700" dirty="0">
                <a:solidFill>
                  <a:schemeClr val="bg2"/>
                </a:solidFill>
              </a:rPr>
              <a:t>一冊受け取ったら、一つ押す。</a:t>
            </a:r>
            <a:endParaRPr lang="en-US" sz="1700" dirty="0"/>
          </a:p>
          <a:p>
            <a:pPr algn="l" indent="0" marL="0">
              <a:buNone/>
            </a:pPr>
            <a:r>
              <a:rPr lang="en-US" sz="1700" dirty="0">
                <a:solidFill>
                  <a:schemeClr val="bg2"/>
                </a:solidFill>
              </a:rPr>
              <a:t>押されずに残った番号が、未提出の生徒です。</a:t>
            </a:r>
            <a:endParaRPr lang="en-US" sz="1700" dirty="0"/>
          </a:p>
        </p:txBody>
      </p:sp>
      <p:sp>
        <p:nvSpPr>
          <p:cNvPr id="4" name="アイコンの円-207"/>
          <p:cNvSpPr/>
          <p:nvPr/>
        </p:nvSpPr>
        <p:spPr>
          <a:xfrm>
            <a:off x="7315200" y="1463040"/>
            <a:ext cx="914400" cy="914400"/>
          </a:xfrm>
          <a:prstGeom prst="ellipse">
            <a:avLst/>
          </a:prstGeom>
          <a:solidFill>
            <a:schemeClr val="accent1"/>
          </a:solidFill>
          <a:ln w="12700">
            <a:solidFill>
              <a:schemeClr val="accent1"/>
            </a:solidFill>
            <a:prstDash val="solid"/>
          </a:ln>
        </p:spPr>
      </p:sp>
      <p:pic>
        <p:nvPicPr>
          <p:cNvPr id="5" name="アイコン-208" descr="preencoded.png">    </p:cNvPr>
          <p:cNvPicPr>
            <a:picLocks noChangeAspect="1"/>
          </p:cNvPicPr>
          <p:nvPr/>
        </p:nvPicPr>
        <p:blipFill>
          <a:blip r:embed="rId1"/>
          <a:stretch>
            <a:fillRect/>
          </a:stretch>
        </p:blipFill>
        <p:spPr>
          <a:xfrm>
            <a:off x="7543800" y="1691640"/>
            <a:ext cx="457200" cy="457200"/>
          </a:xfrm>
          <a:prstGeom prst="rect">
            <a:avLst/>
          </a:prstGeom>
        </p:spPr>
      </p:pic>
      <p:sp>
        <p:nvSpPr>
          <p:cNvPr id="6" name="Text 3"/>
          <p:cNvSpPr txBox="1"/>
          <p:nvPr/>
        </p:nvSpPr>
        <p:spPr>
          <a:xfrm>
            <a:off x="8503920" y="1463040"/>
            <a:ext cx="3291840" cy="914400"/>
          </a:xfrm>
          <a:prstGeom prst="rect">
            <a:avLst/>
          </a:prstGeom>
          <a:noFill/>
          <a:ln/>
        </p:spPr>
        <p:txBody>
          <a:bodyPr wrap="square" lIns="0" tIns="0" rIns="0" bIns="0" rtlCol="0" anchor="ctr"/>
          <a:lstStyle/>
          <a:p>
            <a:pPr indent="0" marL="0">
              <a:buNone/>
            </a:pPr>
            <a:r>
              <a:rPr lang="en-US" sz="2400" b="1" dirty="0">
                <a:solidFill>
                  <a:schemeClr val="bg1"/>
                </a:solidFill>
              </a:rPr>
              <a:t>登録する</a:t>
            </a:r>
            <a:endParaRPr lang="en-US" sz="2400" dirty="0"/>
          </a:p>
        </p:txBody>
      </p:sp>
      <p:sp>
        <p:nvSpPr>
          <p:cNvPr id="7" name="アイコンの円-209"/>
          <p:cNvSpPr/>
          <p:nvPr/>
        </p:nvSpPr>
        <p:spPr>
          <a:xfrm>
            <a:off x="7315200" y="2834640"/>
            <a:ext cx="914400" cy="914400"/>
          </a:xfrm>
          <a:prstGeom prst="ellipse">
            <a:avLst/>
          </a:prstGeom>
          <a:solidFill>
            <a:schemeClr val="accent1"/>
          </a:solidFill>
          <a:ln w="12700">
            <a:solidFill>
              <a:schemeClr val="accent1"/>
            </a:solidFill>
            <a:prstDash val="solid"/>
          </a:ln>
        </p:spPr>
      </p:sp>
      <p:pic>
        <p:nvPicPr>
          <p:cNvPr id="8" name="アイコン-210" descr="preencoded.png">    </p:cNvPr>
          <p:cNvPicPr>
            <a:picLocks noChangeAspect="1"/>
          </p:cNvPicPr>
          <p:nvPr/>
        </p:nvPicPr>
        <p:blipFill>
          <a:blip r:embed="rId2"/>
          <a:stretch>
            <a:fillRect/>
          </a:stretch>
        </p:blipFill>
        <p:spPr>
          <a:xfrm>
            <a:off x="7543800" y="3063240"/>
            <a:ext cx="457200" cy="457200"/>
          </a:xfrm>
          <a:prstGeom prst="rect">
            <a:avLst/>
          </a:prstGeom>
        </p:spPr>
      </p:pic>
      <p:sp>
        <p:nvSpPr>
          <p:cNvPr id="9" name="Text 5"/>
          <p:cNvSpPr txBox="1"/>
          <p:nvPr/>
        </p:nvSpPr>
        <p:spPr>
          <a:xfrm>
            <a:off x="8503920" y="2834640"/>
            <a:ext cx="3291840" cy="914400"/>
          </a:xfrm>
          <a:prstGeom prst="rect">
            <a:avLst/>
          </a:prstGeom>
          <a:noFill/>
          <a:ln/>
        </p:spPr>
        <p:txBody>
          <a:bodyPr wrap="square" lIns="0" tIns="0" rIns="0" bIns="0" rtlCol="0" anchor="ctr"/>
          <a:lstStyle/>
          <a:p>
            <a:pPr indent="0" marL="0">
              <a:buNone/>
            </a:pPr>
            <a:r>
              <a:rPr lang="en-US" sz="2400" b="1" dirty="0">
                <a:solidFill>
                  <a:schemeClr val="bg1"/>
                </a:solidFill>
              </a:rPr>
              <a:t>チェックする</a:t>
            </a:r>
            <a:endParaRPr lang="en-US" sz="2400" dirty="0"/>
          </a:p>
        </p:txBody>
      </p:sp>
      <p:sp>
        <p:nvSpPr>
          <p:cNvPr id="10" name="アイコンの円-211"/>
          <p:cNvSpPr/>
          <p:nvPr/>
        </p:nvSpPr>
        <p:spPr>
          <a:xfrm>
            <a:off x="7315200" y="4206240"/>
            <a:ext cx="914400" cy="914400"/>
          </a:xfrm>
          <a:prstGeom prst="ellipse">
            <a:avLst/>
          </a:prstGeom>
          <a:solidFill>
            <a:schemeClr val="accent1"/>
          </a:solidFill>
          <a:ln w="12700">
            <a:solidFill>
              <a:schemeClr val="accent1"/>
            </a:solidFill>
            <a:prstDash val="solid"/>
          </a:ln>
        </p:spPr>
      </p:sp>
      <p:pic>
        <p:nvPicPr>
          <p:cNvPr id="11" name="アイコン-212" descr="preencoded.png">    </p:cNvPr>
          <p:cNvPicPr>
            <a:picLocks noChangeAspect="1"/>
          </p:cNvPicPr>
          <p:nvPr/>
        </p:nvPicPr>
        <p:blipFill>
          <a:blip r:embed="rId3"/>
          <a:stretch>
            <a:fillRect/>
          </a:stretch>
        </p:blipFill>
        <p:spPr>
          <a:xfrm>
            <a:off x="7543800" y="4434840"/>
            <a:ext cx="457200" cy="457200"/>
          </a:xfrm>
          <a:prstGeom prst="rect">
            <a:avLst/>
          </a:prstGeom>
        </p:spPr>
      </p:pic>
      <p:sp>
        <p:nvSpPr>
          <p:cNvPr id="12" name="Text 7"/>
          <p:cNvSpPr txBox="1"/>
          <p:nvPr/>
        </p:nvSpPr>
        <p:spPr>
          <a:xfrm>
            <a:off x="8503920" y="4206240"/>
            <a:ext cx="3291840" cy="914400"/>
          </a:xfrm>
          <a:prstGeom prst="rect">
            <a:avLst/>
          </a:prstGeom>
          <a:noFill/>
          <a:ln/>
        </p:spPr>
        <p:txBody>
          <a:bodyPr wrap="square" lIns="0" tIns="0" rIns="0" bIns="0" rtlCol="0" anchor="ctr"/>
          <a:lstStyle/>
          <a:p>
            <a:pPr indent="0" marL="0">
              <a:buNone/>
            </a:pPr>
            <a:r>
              <a:rPr lang="en-US" sz="2400" b="1" dirty="0">
                <a:solidFill>
                  <a:schemeClr val="bg1"/>
                </a:solidFill>
              </a:rPr>
              <a:t>残りを見る・伝える</a:t>
            </a:r>
            <a:endParaRPr lang="en-US" sz="2400" dirty="0"/>
          </a:p>
        </p:txBody>
      </p:sp>
      <p:sp>
        <p:nvSpPr>
          <p:cNvPr id="13" name="Text 8"/>
          <p:cNvSpPr txBox="1"/>
          <p:nvPr/>
        </p:nvSpPr>
        <p:spPr>
          <a:xfrm>
            <a:off x="640080" y="5760720"/>
            <a:ext cx="10515600" cy="365760"/>
          </a:xfrm>
          <a:prstGeom prst="rect">
            <a:avLst/>
          </a:prstGeom>
          <a:noFill/>
          <a:ln/>
        </p:spPr>
        <p:txBody>
          <a:bodyPr wrap="square" lIns="0" tIns="0" rIns="0" bIns="0" rtlCol="0" anchor="ctr"/>
          <a:lstStyle/>
          <a:p>
            <a:pPr indent="0" marL="0">
              <a:buNone/>
            </a:pPr>
            <a:r>
              <a:rPr lang="en-US" sz="1400" dirty="0">
                <a:solidFill>
                  <a:schemeClr val="bg2"/>
                </a:solidFill>
              </a:rPr>
              <a:t>困ったときは、URLを配布した先生に声をかけてください。</a:t>
            </a:r>
            <a:endParaRPr lang="en-US" sz="1400" dirty="0"/>
          </a:p>
        </p:txBody>
      </p:sp>
    </p:spTree>
  </p:cSld>
  <p:clrMapOvr>
    <a:masterClrMapping/>
  </p:clrMapOvr>
</p:sld>
</file>

<file path=ppt/theme/theme1.xml><?xml version="1.0" encoding="utf-8"?>
<a:theme xmlns:a="http://schemas.openxmlformats.org/drawingml/2006/main" name="提出物チェッカー">
  <a:themeElements>
    <a:clrScheme name="提出物チェッカー">
      <a:dk1>
        <a:srgbClr val="1F2937"/>
      </a:dk1>
      <a:lt1>
        <a:srgbClr val="FFFFFF"/>
      </a:lt1>
      <a:dk2>
        <a:srgbClr val="134E4A"/>
      </a:dk2>
      <a:lt2>
        <a:srgbClr val="ECF5F3"/>
      </a:lt2>
      <a:accent1>
        <a:srgbClr val="0F766E"/>
      </a:accent1>
      <a:accent2>
        <a:srgbClr val="D97706"/>
      </a:accent2>
      <a:accent3>
        <a:srgbClr val="2563EB"/>
      </a:accent3>
      <a:accent4>
        <a:srgbClr val="C62828"/>
      </a:accent4>
      <a:accent5>
        <a:srgbClr val="15803D"/>
      </a:accent5>
      <a:accent6>
        <a:srgbClr val="64748B"/>
      </a:accent6>
      <a:hlink>
        <a:srgbClr val="0F766E"/>
      </a:hlink>
      <a:folHlink>
        <a:srgbClr val="134E4A"/>
      </a:folHlink>
    </a:clrScheme>
    <a:fontScheme name="提出物チェッカー">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提出物チェッカー 使い方ガイド</dc:title>
  <dc:subject>PptxGenJS Presentation</dc:subject>
  <dc:creator>提出物チェッカー</dc:creator>
  <cp:lastModifiedBy>提出物チェッカー</cp:lastModifiedBy>
  <cp:revision>1</cp:revision>
  <dcterms:created xsi:type="dcterms:W3CDTF">2026-10-27T01:37:58Z</dcterms:created>
  <dcterms:modified xsi:type="dcterms:W3CDTF">2026-10-27T01:37:58Z</dcterms:modified>
</cp:coreProperties>
</file>