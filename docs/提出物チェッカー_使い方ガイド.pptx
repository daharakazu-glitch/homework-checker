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015853d3-3217-9c38-960e-e7e9682c8834}">
          <p14:sldIdLst>
            <p14:sldId id="256"/>
            <p14:sldId id="257"/>
            <p14:sldId id="258"/>
            <p14:sldId id="259"/>
            <p14:sldId id="260"/>
          </p14:sldIdLst>
        </p14:section>
        <p14:section name="準備" id="{442a05eb-ed89-67ac-fff9-5cf0ccb3a0e5}">
          <p14:sldIdLst>
            <p14:sldId id="261"/>
            <p14:sldId id="262"/>
            <p14:sldId id="263"/>
          </p14:sldIdLst>
        </p14:section>
        <p14:section name="毎日の使い方" id="{1463f73c-b7eb-50bd-fcfc-5233ae6e892e}">
          <p14:sldIdLst>
            <p14:sldId id="264"/>
            <p14:sldId id="265"/>
            <p14:sldId id="266"/>
          </p14:sldIdLst>
        </p14:section>
        <p14:section name="メール" id="{19d48cc2-5b4b-2302-a797-e021a2f1b3c7}">
          <p14:sldIdLst>
            <p14:sldId id="267"/>
            <p14:sldId id="268"/>
          </p14:sldIdLst>
        </p14:section>
        <p14:section name="印刷と掲示" id="{4fa424b3-8d84-156f-4988-901a7ff62560}">
          <p14:sldIdLst>
            <p14:sldId id="269"/>
            <p14:sldId id="270"/>
            <p14:sldId id="271"/>
            <p14:sldId id="272"/>
          </p14:sldIdLst>
        </p14:section>
        <p14:section name="データと困ったとき" id="{0ffa5393-0bda-4bf9-31aa-54be804b931f}">
          <p14:sldIdLst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出物チェッカーは、未提出を見つけて、本人に知らせて、生徒にも見えるようにするアプリです。このアプリならではの特徴は3つです。メールで一人ずつ知らせる、紙の手紙でも渡せる、生徒が自分の提出状況をリアルタイムで確かめられる。ただし、アプリは見落とさないための道具です。声をかけるのは先生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アプリは、未提出を見落とさないための道具です。提出していない理由は、表だけでは分かりません。忘れたのかもしれないし、何か事情があるのかもしれない。だからこそ、探す時間はアプリにまかせて、生まれた時間で生徒と話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このアプリならではの特徴は、知らせる手段が3つあることです。メール、紙の手紙、そして生徒が自分で確かめられる掲示用ページ。チェックや一覧表示は、それを支える土台の機能です。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画面の上に6つのメニューがあります。右上の「保存済み」は、入力がスプレッドシートに保存されたことを示します。「最新に更新」は、ほかの端末で入力した内容を読み込むボタンです。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られたURLを、学校のアカウントで開きます。初回だけ許可の画面が出るので「許可」を押してください。開けないときは、複数のアカウントでログインしていることが多いので、シークレットウィンドウを使っ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最初に、受け持つクラスを登録します。名前やメールアドレスは入れなくても使えます。入れるかどうかは学校のルールに合わせてください。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メールで知らせる機能を使う場合は、生徒のGoogleアカウントのメールアドレスを登録します。いちばん大事なのは、行の位置が出席番号になることです。欠番がある場合は、その行を空けてください。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まずは今日集める提出物を一つだけ登録してみてください。必須なのは提出物名と対象クラスだけです。削除すると、その提出物のチェック記録も消えるので注意してください。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一冊受け取って、一つ押す。これだけです。冊数が多いときはパソコンで「番号で入力」を使うと、マウスを動かさずに続けて入力できます。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回収状況では、提出物とクラスごとの状況がカードで並びます。色で、今どこを見ればよいかが分かります。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出物ごとに表を見なくても、同じ生徒が出していないものが一か所にまとまります。一度の声かけで済みます。未提出が重なっている生徒は、困っていることがあるのかもしれません。責めるのではなく、まず話を聞くきっかけに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メールは先生のGmailから、生徒一人ひとりに別々に送られます。ほかの生徒の情報は入りません。メールを送ったら終わりではありません。メールは、教室や廊下で声をかけるときのきっかけです。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情があって提出できない生徒に、催促のメールが届くのはつらいことです。事情を知っているのは先生なので、送らない選択ができるようにしています。外しても、声かけビューや印刷の一覧にはこれまでどおり表示されるので、見守りは続け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紙の文面はメールと同じです。メールが届く生徒にはメール、届かない生徒には手紙、という使い分けができます。手紙は手渡しのときに一言添えられるのがよいところです。印刷を押すと、対象の生徒全員分が1人1ページずつ印刷さ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紙で掲示したい場合や、手書きでチェックしたい場合に使います。掲示はClassroomのリンクでもできます（次のスライド）。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これまで印刷して教室に貼っていた一覧を、リンクで共有できます。チェックするたびに自動で更新されます。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生徒はClassroomのリンクから、自分のクラスの提出状況を見ます。空欄は「まだ確認できていない」という意味です。行き違いで提出済みの場合は、先生に声をかけるよう伝えてください。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右上の「保存済み」が出ていれば、入力はスプレッドシートに保存されています。大事な時期の前には、バックアップを保存しておくと安心です。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よくある質問です。分からないことがあれば、アプリの中の「使い方」画面も見てください。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このスライドは、アプリを配布・管理している先生向けです。ほかの先生は読み飛ばしてかまいません。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見つける、知らせるまではアプリが手伝います。その先の、生徒と話すところは先生の仕事です。アプリで生まれた時間を、生徒との対話に使ってください。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5943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提出物チェッカー 使い方ガイド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提出物チェッカー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未提出を見つけて、本人に知らせて、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生徒にも見えるようにする。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生徒と向き合う時間をつくるためのアプリです。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校内の先生向け 使い方ガイド</a:t>
            </a:r>
            <a:endParaRPr lang="en-US" sz="1400" dirty="0"/>
          </a:p>
        </p:txBody>
      </p:sp>
      <p:sp>
        <p:nvSpPr>
          <p:cNvPr id="5" name="特徴カード-1"/>
          <p:cNvSpPr/>
          <p:nvPr/>
        </p:nvSpPr>
        <p:spPr>
          <a:xfrm>
            <a:off x="6675120" y="1325880"/>
            <a:ext cx="5029200" cy="123444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アイコンの円-2"/>
          <p:cNvSpPr/>
          <p:nvPr/>
        </p:nvSpPr>
        <p:spPr>
          <a:xfrm>
            <a:off x="6903720" y="160020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7" name="アイコン-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5170" y="1771650"/>
            <a:ext cx="342900" cy="342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0" y="1463040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メールで一人ずつ知らせる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本人の未提出だけを、Gmailから個別に</a:t>
            </a:r>
            <a:endParaRPr lang="en-US" sz="1900" dirty="0"/>
          </a:p>
        </p:txBody>
      </p:sp>
      <p:sp>
        <p:nvSpPr>
          <p:cNvPr id="9" name="特徴カード-4"/>
          <p:cNvSpPr/>
          <p:nvPr/>
        </p:nvSpPr>
        <p:spPr>
          <a:xfrm>
            <a:off x="6675120" y="2788920"/>
            <a:ext cx="5029200" cy="123444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アイコンの円-5"/>
          <p:cNvSpPr/>
          <p:nvPr/>
        </p:nvSpPr>
        <p:spPr>
          <a:xfrm>
            <a:off x="6903720" y="30632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アイコン-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170" y="323469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0" y="2926080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紙の手紙でも渡せる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同じ文面を1人1枚でまとめて印刷</a:t>
            </a:r>
            <a:endParaRPr lang="en-US" sz="1900" dirty="0"/>
          </a:p>
        </p:txBody>
      </p:sp>
      <p:sp>
        <p:nvSpPr>
          <p:cNvPr id="13" name="特徴カード-7"/>
          <p:cNvSpPr/>
          <p:nvPr/>
        </p:nvSpPr>
        <p:spPr>
          <a:xfrm>
            <a:off x="6675120" y="4251960"/>
            <a:ext cx="5029200" cy="123444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アイコンの円-8"/>
          <p:cNvSpPr/>
          <p:nvPr/>
        </p:nvSpPr>
        <p:spPr>
          <a:xfrm>
            <a:off x="6903720" y="452628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アイコン-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5170" y="469773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0" y="4389120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生徒が自分で確かめられる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Classroomのリンクで、リアルタイムに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このアプリの考え方：主役は、先生と生徒の対話</a:t>
            </a:r>
            <a:endParaRPr lang="en-US" sz="3000" dirty="0"/>
          </a:p>
        </p:txBody>
      </p:sp>
      <p:sp>
        <p:nvSpPr>
          <p:cNvPr id="3" name="カード-10"/>
          <p:cNvSpPr/>
          <p:nvPr/>
        </p:nvSpPr>
        <p:spPr>
          <a:xfrm>
            <a:off x="548640" y="1463040"/>
            <a:ext cx="493776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アイコンの円-11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アイコン-1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アプリにまかせること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389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未提出を見落とさない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本人に知らせる（メール・手紙）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生徒が自分で確かめられるようにする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番号を探す・数え直す手間をなくす</a:t>
            </a:r>
            <a:endParaRPr lang="en-US" sz="1600" dirty="0"/>
          </a:p>
        </p:txBody>
      </p:sp>
      <p:sp>
        <p:nvSpPr>
          <p:cNvPr id="8" name="矢印-13"/>
          <p:cNvSpPr/>
          <p:nvPr/>
        </p:nvSpPr>
        <p:spPr>
          <a:xfrm>
            <a:off x="5669280" y="2514600"/>
            <a:ext cx="822960" cy="7315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カード-14"/>
          <p:cNvSpPr/>
          <p:nvPr/>
        </p:nvSpPr>
        <p:spPr>
          <a:xfrm>
            <a:off x="6675120" y="1463040"/>
            <a:ext cx="4937760" cy="283464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アイコンの円-15"/>
          <p:cNvSpPr/>
          <p:nvPr/>
        </p:nvSpPr>
        <p:spPr>
          <a:xfrm>
            <a:off x="6949440" y="16916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アイコン-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9460" y="18516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0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先生がすること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995160" y="2514600"/>
            <a:ext cx="4389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顔を見て、一言かける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出せない事情を聞き、配慮する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期限や出し方を一緒に考える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出せたことを認める</a:t>
            </a:r>
            <a:endParaRPr lang="en-US" sz="1600" dirty="0"/>
          </a:p>
        </p:txBody>
      </p:sp>
      <p:sp>
        <p:nvSpPr>
          <p:cNvPr id="14" name="カード-17"/>
          <p:cNvSpPr/>
          <p:nvPr/>
        </p:nvSpPr>
        <p:spPr>
          <a:xfrm>
            <a:off x="548640" y="4572000"/>
            <a:ext cx="1106424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466344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アプリに頼り切るのではなく、生徒と話す時間をつくるために。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提出していない理由は、表だけでは分かりません。探す時間はアプリにまかせ、どう声をかけるかは先生が決めます。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このアプリならではの3つの特徴</a:t>
            </a:r>
            <a:endParaRPr lang="en-US" sz="3000" dirty="0"/>
          </a:p>
        </p:txBody>
      </p:sp>
      <p:sp>
        <p:nvSpPr>
          <p:cNvPr id="3" name="カード-18"/>
          <p:cNvSpPr/>
          <p:nvPr/>
        </p:nvSpPr>
        <p:spPr>
          <a:xfrm>
            <a:off x="548640" y="146304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アイコンの円-19"/>
          <p:cNvSpPr/>
          <p:nvPr/>
        </p:nvSpPr>
        <p:spPr>
          <a:xfrm>
            <a:off x="822960" y="169164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アイコン-2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188595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メールで一人ずつ知らせる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本人の未提出だけを書いたメールを、先生のGmailから個別に送ります。事情のある生徒は外せます。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97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→ 12・13ページ</a:t>
            </a:r>
            <a:endParaRPr lang="en-US" sz="1200" dirty="0"/>
          </a:p>
        </p:txBody>
      </p:sp>
      <p:sp>
        <p:nvSpPr>
          <p:cNvPr id="9" name="カード-21"/>
          <p:cNvSpPr/>
          <p:nvPr/>
        </p:nvSpPr>
        <p:spPr>
          <a:xfrm>
            <a:off x="4297680" y="146304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アイコンの円-22"/>
          <p:cNvSpPr/>
          <p:nvPr/>
        </p:nvSpPr>
        <p:spPr>
          <a:xfrm>
            <a:off x="4572000" y="169164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アイコン-2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310" y="188595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紙の手紙でも渡せる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15468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メールと同じ文面を、1人1枚でまとめて印刷。メールが届かない生徒にも手渡しで伝えられます。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297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→ 14ページ</a:t>
            </a:r>
            <a:endParaRPr lang="en-US" sz="1200" dirty="0"/>
          </a:p>
        </p:txBody>
      </p:sp>
      <p:sp>
        <p:nvSpPr>
          <p:cNvPr id="15" name="カード-24"/>
          <p:cNvSpPr/>
          <p:nvPr/>
        </p:nvSpPr>
        <p:spPr>
          <a:xfrm>
            <a:off x="8046720" y="146304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アイコンの円-25"/>
          <p:cNvSpPr/>
          <p:nvPr/>
        </p:nvSpPr>
        <p:spPr>
          <a:xfrm>
            <a:off x="8321040" y="169164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アイコン-2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350" y="1885950"/>
            <a:ext cx="388620" cy="3886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生徒が自分で確かめられる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315468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Classroomに貼ったリンクで、生徒は提出状況をリアルタイムに確認できます（閲覧のみ・番号だけ）。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4297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→ 16・17ページ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土台になる機能</a:t>
            </a:r>
            <a:endParaRPr lang="en-US" sz="1400" dirty="0"/>
          </a:p>
        </p:txBody>
      </p:sp>
      <p:sp>
        <p:nvSpPr>
          <p:cNvPr id="22" name="基本機能-27"/>
          <p:cNvSpPr/>
          <p:nvPr/>
        </p:nvSpPr>
        <p:spPr>
          <a:xfrm>
            <a:off x="548640" y="539496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C9DDD9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48640" y="5394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その場でチェック</a:t>
            </a:r>
            <a:endParaRPr lang="en-US" sz="1300" dirty="0"/>
          </a:p>
        </p:txBody>
      </p:sp>
      <p:sp>
        <p:nvSpPr>
          <p:cNvPr id="24" name="基本機能-28"/>
          <p:cNvSpPr/>
          <p:nvPr/>
        </p:nvSpPr>
        <p:spPr>
          <a:xfrm>
            <a:off x="2798064" y="539496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C9DDD9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798064" y="5394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未提出が一目で分かる</a:t>
            </a:r>
            <a:endParaRPr lang="en-US" sz="1300" dirty="0"/>
          </a:p>
        </p:txBody>
      </p:sp>
      <p:sp>
        <p:nvSpPr>
          <p:cNvPr id="26" name="基本機能-29"/>
          <p:cNvSpPr/>
          <p:nvPr/>
        </p:nvSpPr>
        <p:spPr>
          <a:xfrm>
            <a:off x="5047488" y="539496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C9DDD9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047488" y="5394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生徒ごとにまとめて表示</a:t>
            </a:r>
            <a:endParaRPr lang="en-US" sz="1300" dirty="0"/>
          </a:p>
        </p:txBody>
      </p:sp>
      <p:sp>
        <p:nvSpPr>
          <p:cNvPr id="28" name="基本機能-30"/>
          <p:cNvSpPr/>
          <p:nvPr/>
        </p:nvSpPr>
        <p:spPr>
          <a:xfrm>
            <a:off x="7296912" y="539496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C9DDD9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296912" y="5394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どの端末でも同じデータ</a:t>
            </a:r>
            <a:endParaRPr lang="en-US" sz="1300" dirty="0"/>
          </a:p>
        </p:txBody>
      </p:sp>
      <p:sp>
        <p:nvSpPr>
          <p:cNvPr id="30" name="基本機能-31"/>
          <p:cNvSpPr/>
          <p:nvPr/>
        </p:nvSpPr>
        <p:spPr>
          <a:xfrm>
            <a:off x="9546336" y="539496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C9DDD9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546336" y="5394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データは先生ごとに別々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画面の見取り図：上のメニューで切り替える</a:t>
            </a:r>
            <a:endParaRPr lang="en-US" sz="3000" dirty="0"/>
          </a:p>
        </p:txBody>
      </p:sp>
      <p:sp>
        <p:nvSpPr>
          <p:cNvPr id="3" name="画面の枠-32"/>
          <p:cNvSpPr/>
          <p:nvPr/>
        </p:nvSpPr>
        <p:spPr>
          <a:xfrm>
            <a:off x="566928" y="1389888"/>
            <a:ext cx="11027664" cy="562856"/>
          </a:xfrm>
          <a:prstGeom prst="roundRect">
            <a:avLst>
              <a:gd name="adj" fmla="val 12997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33" descr="shots2/na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10881360" cy="416552"/>
          </a:xfrm>
          <a:prstGeom prst="rect">
            <a:avLst/>
          </a:prstGeom>
        </p:spPr>
      </p:pic>
      <p:sp>
        <p:nvSpPr>
          <p:cNvPr id="5" name="カード-34"/>
          <p:cNvSpPr/>
          <p:nvPr/>
        </p:nvSpPr>
        <p:spPr>
          <a:xfrm>
            <a:off x="548640" y="2148840"/>
            <a:ext cx="3520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番号-35"/>
          <p:cNvSpPr/>
          <p:nvPr/>
        </p:nvSpPr>
        <p:spPr>
          <a:xfrm>
            <a:off x="777240" y="2377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回収状況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提出物ごとの回収の様子をカードで一覧。今日締切が上に</a:t>
            </a:r>
            <a:endParaRPr lang="en-US" sz="1400" dirty="0"/>
          </a:p>
        </p:txBody>
      </p:sp>
      <p:sp>
        <p:nvSpPr>
          <p:cNvPr id="10" name="カード-36"/>
          <p:cNvSpPr/>
          <p:nvPr/>
        </p:nvSpPr>
        <p:spPr>
          <a:xfrm>
            <a:off x="4297680" y="2148840"/>
            <a:ext cx="3520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番号-37"/>
          <p:cNvSpPr/>
          <p:nvPr/>
        </p:nvSpPr>
        <p:spPr>
          <a:xfrm>
            <a:off x="4526280" y="2377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チェック入力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9718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提出した生徒の番号のマスを押す。番号入力もできる</a:t>
            </a:r>
            <a:endParaRPr lang="en-US" sz="1400" dirty="0"/>
          </a:p>
        </p:txBody>
      </p:sp>
      <p:sp>
        <p:nvSpPr>
          <p:cNvPr id="15" name="カード-38"/>
          <p:cNvSpPr/>
          <p:nvPr/>
        </p:nvSpPr>
        <p:spPr>
          <a:xfrm>
            <a:off x="8046720" y="2148840"/>
            <a:ext cx="3520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番号-39"/>
          <p:cNvSpPr/>
          <p:nvPr/>
        </p:nvSpPr>
        <p:spPr>
          <a:xfrm>
            <a:off x="8275320" y="2377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声かけビュー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29718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未提出を生徒ごとにまとめる。メール送信もここから</a:t>
            </a:r>
            <a:endParaRPr lang="en-US" sz="1400" dirty="0"/>
          </a:p>
        </p:txBody>
      </p:sp>
      <p:sp>
        <p:nvSpPr>
          <p:cNvPr id="20" name="カード-40"/>
          <p:cNvSpPr/>
          <p:nvPr/>
        </p:nvSpPr>
        <p:spPr>
          <a:xfrm>
            <a:off x="548640" y="4114800"/>
            <a:ext cx="3520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番号-41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4343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印刷プレビュー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9377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クラス別・手紙・白紙の印刷と、Classroomへの掲示</a:t>
            </a:r>
            <a:endParaRPr lang="en-US" sz="1400" dirty="0"/>
          </a:p>
        </p:txBody>
      </p:sp>
      <p:sp>
        <p:nvSpPr>
          <p:cNvPr id="25" name="カード-42"/>
          <p:cNvSpPr/>
          <p:nvPr/>
        </p:nvSpPr>
        <p:spPr>
          <a:xfrm>
            <a:off x="4297680" y="4114800"/>
            <a:ext cx="3520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番号-43"/>
          <p:cNvSpPr/>
          <p:nvPr/>
        </p:nvSpPr>
        <p:spPr>
          <a:xfrm>
            <a:off x="4526280" y="4343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628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120640" y="4343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提出物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49377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提出物の登録・編集、クラス設定、データの管理</a:t>
            </a:r>
            <a:endParaRPr lang="en-US" sz="1400" dirty="0"/>
          </a:p>
        </p:txBody>
      </p:sp>
      <p:sp>
        <p:nvSpPr>
          <p:cNvPr id="30" name="カード-44"/>
          <p:cNvSpPr/>
          <p:nvPr/>
        </p:nvSpPr>
        <p:spPr>
          <a:xfrm>
            <a:off x="8046720" y="4114800"/>
            <a:ext cx="3520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番号-45"/>
          <p:cNvSpPr/>
          <p:nvPr/>
        </p:nvSpPr>
        <p:spPr>
          <a:xfrm>
            <a:off x="8275320" y="4343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7532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8869680" y="4343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使い方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8275320" y="49377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アプリの中の説明。迷ったらここを開く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はじめに：URLを開いて「許可」を押すだけ</a:t>
            </a:r>
            <a:endParaRPr lang="en-US" sz="3000" dirty="0"/>
          </a:p>
        </p:txBody>
      </p:sp>
      <p:sp>
        <p:nvSpPr>
          <p:cNvPr id="3" name="番号-46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手順-47"/>
          <p:cNvSpPr txBox="1"/>
          <p:nvPr/>
        </p:nvSpPr>
        <p:spPr>
          <a:xfrm>
            <a:off x="1188720" y="14813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学校のGoogleアカウントでログイン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パソコン・iPad・Chromebookのどれでも使えます</a:t>
            </a:r>
            <a:endParaRPr lang="en-US" sz="1700" dirty="0"/>
          </a:p>
        </p:txBody>
      </p:sp>
      <p:sp>
        <p:nvSpPr>
          <p:cNvPr id="6" name="番号-48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手順-49"/>
          <p:cNvSpPr txBox="1"/>
          <p:nvPr/>
        </p:nvSpPr>
        <p:spPr>
          <a:xfrm>
            <a:off x="1188720" y="26243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配られたURLを開く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ブックマークしておくと便利です</a:t>
            </a:r>
            <a:endParaRPr lang="en-US" sz="1700" dirty="0"/>
          </a:p>
        </p:txBody>
      </p:sp>
      <p:sp>
        <p:nvSpPr>
          <p:cNvPr id="9" name="番号-50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手順-51"/>
          <p:cNvSpPr txBox="1"/>
          <p:nvPr/>
        </p:nvSpPr>
        <p:spPr>
          <a:xfrm>
            <a:off x="1188720" y="37673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初回だけ出る画面で「許可」を押す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データの保存、メール送信、掲示用ページの共有に使います</a:t>
            </a:r>
            <a:endParaRPr lang="en-US" sz="1700" dirty="0"/>
          </a:p>
        </p:txBody>
      </p:sp>
      <p:sp>
        <p:nvSpPr>
          <p:cNvPr id="12" name="番号-52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手順-53"/>
          <p:cNvSpPr txBox="1"/>
          <p:nvPr/>
        </p:nvSpPr>
        <p:spPr>
          <a:xfrm>
            <a:off x="1188720" y="49103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「複数クラスで使う」を選ぶ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担任クラスだけなら「1クラスで使う」（あとで変更できます）</a:t>
            </a:r>
            <a:endParaRPr lang="en-US" sz="1700" dirty="0"/>
          </a:p>
        </p:txBody>
      </p:sp>
      <p:sp>
        <p:nvSpPr>
          <p:cNvPr id="15" name="カード-54"/>
          <p:cNvSpPr/>
          <p:nvPr/>
        </p:nvSpPr>
        <p:spPr>
          <a:xfrm>
            <a:off x="6949440" y="1463040"/>
            <a:ext cx="4663440" cy="2286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アイコンの円-55"/>
          <p:cNvSpPr/>
          <p:nvPr/>
        </p:nvSpPr>
        <p:spPr>
          <a:xfrm>
            <a:off x="722376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アイコン-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828800"/>
            <a:ext cx="274320" cy="2743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955280" y="1737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開けないときは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7223760" y="2331720"/>
            <a:ext cx="4206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学校とプライベートなど、複数のGoogleアカウントでログインしていると開けないことがあります。シークレットウィンドウ（Ctrl+Shift+N）で、学校のアカウントだけでログインして開いてください。</a:t>
            </a:r>
            <a:endParaRPr lang="en-US" sz="1400" dirty="0"/>
          </a:p>
        </p:txBody>
      </p:sp>
      <p:sp>
        <p:nvSpPr>
          <p:cNvPr id="20" name="カード-57"/>
          <p:cNvSpPr/>
          <p:nvPr/>
        </p:nvSpPr>
        <p:spPr>
          <a:xfrm>
            <a:off x="6949440" y="3977640"/>
            <a:ext cx="4663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アイコンの円-58"/>
          <p:cNvSpPr/>
          <p:nvPr/>
        </p:nvSpPr>
        <p:spPr>
          <a:xfrm>
            <a:off x="722376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アイコン-5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434340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955280" y="4251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許可の画面がまた出たら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7223760" y="48463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新しい機能が加わると、許可の画面がもう一度出ることがあります。そのときも「許可」を押してください。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準備①：クラスを登録する</a:t>
            </a:r>
            <a:endParaRPr lang="en-US" sz="3000" dirty="0"/>
          </a:p>
        </p:txBody>
      </p:sp>
      <p:sp>
        <p:nvSpPr>
          <p:cNvPr id="3" name="番号-60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手順-61"/>
          <p:cNvSpPr txBox="1"/>
          <p:nvPr/>
        </p:nvSpPr>
        <p:spPr>
          <a:xfrm>
            <a:off x="1188720" y="14813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「提出物」画面を開く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下にある「クラス設定」までスクロール</a:t>
            </a:r>
            <a:endParaRPr lang="en-US" sz="1700" dirty="0"/>
          </a:p>
        </p:txBody>
      </p:sp>
      <p:sp>
        <p:nvSpPr>
          <p:cNvPr id="6" name="番号-62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手順-63"/>
          <p:cNvSpPr txBox="1"/>
          <p:nvPr/>
        </p:nvSpPr>
        <p:spPr>
          <a:xfrm>
            <a:off x="1188720" y="26243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クラス名と人数を入れる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「＋ クラスを追加」で増やせます。最大10クラス・1クラス45人</a:t>
            </a:r>
            <a:endParaRPr lang="en-US" sz="1700" dirty="0"/>
          </a:p>
        </p:txBody>
      </p:sp>
      <p:sp>
        <p:nvSpPr>
          <p:cNvPr id="9" name="番号-64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手順-65"/>
          <p:cNvSpPr txBox="1"/>
          <p:nvPr/>
        </p:nvSpPr>
        <p:spPr>
          <a:xfrm>
            <a:off x="1188720" y="37673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名前・メールは任意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出席番号だけでも全部の機能が使えます</a:t>
            </a:r>
            <a:endParaRPr lang="en-US" sz="1700" dirty="0"/>
          </a:p>
        </p:txBody>
      </p:sp>
      <p:sp>
        <p:nvSpPr>
          <p:cNvPr id="12" name="番号-66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手順-67"/>
          <p:cNvSpPr txBox="1"/>
          <p:nvPr/>
        </p:nvSpPr>
        <p:spPr>
          <a:xfrm>
            <a:off x="1188720" y="49103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「クラス設定を保存」を押す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「1クラスで使う／複数クラスで使う」もここで切り替え</a:t>
            </a:r>
            <a:endParaRPr lang="en-US" sz="1700" dirty="0"/>
          </a:p>
        </p:txBody>
      </p:sp>
      <p:sp>
        <p:nvSpPr>
          <p:cNvPr id="15" name="画面の枠-68"/>
          <p:cNvSpPr/>
          <p:nvPr/>
        </p:nvSpPr>
        <p:spPr>
          <a:xfrm>
            <a:off x="5138928" y="1435608"/>
            <a:ext cx="6547104" cy="4169448"/>
          </a:xfrm>
          <a:prstGeom prst="roundRect">
            <a:avLst>
              <a:gd name="adj" fmla="val 1754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画面-69" descr="shots2/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508760"/>
            <a:ext cx="6400800" cy="40231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準備②：名前・メールアドレスを登録する（任意）</a:t>
            </a:r>
            <a:endParaRPr lang="en-US" sz="3000" dirty="0"/>
          </a:p>
        </p:txBody>
      </p:sp>
      <p:sp>
        <p:nvSpPr>
          <p:cNvPr id="3" name="番号-70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手順-71"/>
          <p:cNvSpPr txBox="1"/>
          <p:nvPr/>
        </p:nvSpPr>
        <p:spPr>
          <a:xfrm>
            <a:off x="1188720" y="1481328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「クラス設定」の「名前・メール」を押す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入力欄が開きます</a:t>
            </a:r>
            <a:endParaRPr lang="en-US" sz="1700" dirty="0"/>
          </a:p>
        </p:txBody>
      </p:sp>
      <p:sp>
        <p:nvSpPr>
          <p:cNvPr id="6" name="番号-72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手順-73"/>
          <p:cNvSpPr txBox="1"/>
          <p:nvPr/>
        </p:nvSpPr>
        <p:spPr>
          <a:xfrm>
            <a:off x="1188720" y="2624328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1行に1人、出席番号の順に入れる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1行目が1番、2行目が2番…として扱われます</a:t>
            </a:r>
            <a:endParaRPr lang="en-US" sz="1700" dirty="0"/>
          </a:p>
        </p:txBody>
      </p:sp>
      <p:sp>
        <p:nvSpPr>
          <p:cNvPr id="9" name="番号-74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手順-75"/>
          <p:cNvSpPr txBox="1"/>
          <p:nvPr/>
        </p:nvSpPr>
        <p:spPr>
          <a:xfrm>
            <a:off x="1188720" y="3767328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欠番やアドレスのない生徒は空行にする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行がずれないように注意</a:t>
            </a:r>
            <a:endParaRPr lang="en-US" sz="1700" dirty="0"/>
          </a:p>
        </p:txBody>
      </p:sp>
      <p:sp>
        <p:nvSpPr>
          <p:cNvPr id="12" name="番号-76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手順-77"/>
          <p:cNvSpPr txBox="1"/>
          <p:nvPr/>
        </p:nvSpPr>
        <p:spPr>
          <a:xfrm>
            <a:off x="1188720" y="4910328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「クラス設定を保存」を押す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ボタンが「メール○人」になれば登録完了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1508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入力のしかた（どれでもOK）</a:t>
            </a:r>
            <a:endParaRPr lang="en-US" sz="1700" dirty="0"/>
          </a:p>
        </p:txBody>
      </p:sp>
      <p:sp>
        <p:nvSpPr>
          <p:cNvPr id="16" name="カード-78"/>
          <p:cNvSpPr/>
          <p:nvPr/>
        </p:nvSpPr>
        <p:spPr>
          <a:xfrm>
            <a:off x="6858000" y="2057400"/>
            <a:ext cx="47548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2167128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名前とアドレス（間はスペース）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青木 太郎 aoki@○○.ed.jp</a:t>
            </a:r>
            <a:endParaRPr lang="en-US" sz="1300" dirty="0"/>
          </a:p>
        </p:txBody>
      </p:sp>
      <p:sp>
        <p:nvSpPr>
          <p:cNvPr id="18" name="カード-79"/>
          <p:cNvSpPr/>
          <p:nvPr/>
        </p:nvSpPr>
        <p:spPr>
          <a:xfrm>
            <a:off x="6858000" y="3383280"/>
            <a:ext cx="47548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86600" y="3493008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アドレスだけ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aoki@○○.ed.jp</a:t>
            </a:r>
            <a:endParaRPr lang="en-US" sz="1300" dirty="0"/>
          </a:p>
        </p:txBody>
      </p:sp>
      <p:sp>
        <p:nvSpPr>
          <p:cNvPr id="20" name="カード-80"/>
          <p:cNvSpPr/>
          <p:nvPr/>
        </p:nvSpPr>
        <p:spPr>
          <a:xfrm>
            <a:off x="6858000" y="4709160"/>
            <a:ext cx="47548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86600" y="4818888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Excelの「番号・氏名・メール」の列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コピーして、そのまま貼り付け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準備③：提出物を登録する</a:t>
            </a:r>
            <a:endParaRPr lang="en-US" sz="3000" dirty="0"/>
          </a:p>
        </p:txBody>
      </p:sp>
      <p:sp>
        <p:nvSpPr>
          <p:cNvPr id="3" name="画面の枠-81"/>
          <p:cNvSpPr/>
          <p:nvPr/>
        </p:nvSpPr>
        <p:spPr>
          <a:xfrm>
            <a:off x="566928" y="1435608"/>
            <a:ext cx="6912864" cy="3641296"/>
          </a:xfrm>
          <a:prstGeom prst="roundRect">
            <a:avLst>
              <a:gd name="adj" fmla="val 2009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82" descr="shots2/task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766560" cy="3494992"/>
          </a:xfrm>
          <a:prstGeom prst="rect">
            <a:avLst/>
          </a:prstGeom>
        </p:spPr>
      </p:pic>
      <p:sp>
        <p:nvSpPr>
          <p:cNvPr id="5" name="番号-83"/>
          <p:cNvSpPr/>
          <p:nvPr/>
        </p:nvSpPr>
        <p:spPr>
          <a:xfrm>
            <a:off x="78638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手順-84"/>
          <p:cNvSpPr txBox="1"/>
          <p:nvPr/>
        </p:nvSpPr>
        <p:spPr>
          <a:xfrm>
            <a:off x="8503920" y="1481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「＋ 追加」を押す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「提出物」画面の上にあります</a:t>
            </a:r>
            <a:endParaRPr lang="en-US" sz="1700" dirty="0"/>
          </a:p>
        </p:txBody>
      </p:sp>
      <p:sp>
        <p:nvSpPr>
          <p:cNvPr id="8" name="番号-85"/>
          <p:cNvSpPr/>
          <p:nvPr/>
        </p:nvSpPr>
        <p:spPr>
          <a:xfrm>
            <a:off x="786384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手順-86"/>
          <p:cNvSpPr txBox="1"/>
          <p:nvPr/>
        </p:nvSpPr>
        <p:spPr>
          <a:xfrm>
            <a:off x="8503920" y="2624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提出物名と対象クラスを選ぶ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名前は候補から選べます。クラスは複数選択できます</a:t>
            </a:r>
            <a:endParaRPr lang="en-US" sz="1700" dirty="0"/>
          </a:p>
        </p:txBody>
      </p:sp>
      <p:sp>
        <p:nvSpPr>
          <p:cNvPr id="11" name="番号-87"/>
          <p:cNvSpPr/>
          <p:nvPr/>
        </p:nvSpPr>
        <p:spPr>
          <a:xfrm>
            <a:off x="78638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手順-88"/>
          <p:cNvSpPr txBox="1"/>
          <p:nvPr/>
        </p:nvSpPr>
        <p:spPr>
          <a:xfrm>
            <a:off x="8503920" y="3767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伝えた日・締切（任意）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締切を入れると「今日締切」「締切超過」が分かります</a:t>
            </a:r>
            <a:endParaRPr lang="en-US" sz="1700" dirty="0"/>
          </a:p>
        </p:txBody>
      </p:sp>
      <p:sp>
        <p:nvSpPr>
          <p:cNvPr id="14" name="番号-89"/>
          <p:cNvSpPr/>
          <p:nvPr/>
        </p:nvSpPr>
        <p:spPr>
          <a:xfrm>
            <a:off x="7863840" y="4983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手順-90"/>
          <p:cNvSpPr txBox="1"/>
          <p:nvPr/>
        </p:nvSpPr>
        <p:spPr>
          <a:xfrm>
            <a:off x="8503920" y="4910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あとから「編集」「削除」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一覧の右のボタンで、名前・締切・対象クラスを直せます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チェック入力：提出した生徒の番号を押す</a:t>
            </a:r>
            <a:endParaRPr lang="en-US" sz="3000" dirty="0"/>
          </a:p>
        </p:txBody>
      </p:sp>
      <p:sp>
        <p:nvSpPr>
          <p:cNvPr id="3" name="画面の枠-91"/>
          <p:cNvSpPr/>
          <p:nvPr/>
        </p:nvSpPr>
        <p:spPr>
          <a:xfrm>
            <a:off x="566928" y="1435608"/>
            <a:ext cx="5244998" cy="4809744"/>
          </a:xfrm>
          <a:prstGeom prst="roundRect">
            <a:avLst>
              <a:gd name="adj" fmla="val 1521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92" descr="shots2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5098694" cy="4663440"/>
          </a:xfrm>
          <a:prstGeom prst="rect">
            <a:avLst/>
          </a:prstGeom>
        </p:spPr>
      </p:pic>
      <p:sp>
        <p:nvSpPr>
          <p:cNvPr id="5" name="カード-93"/>
          <p:cNvSpPr/>
          <p:nvPr/>
        </p:nvSpPr>
        <p:spPr>
          <a:xfrm>
            <a:off x="6241694" y="1463040"/>
            <a:ext cx="5371186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説明-94"/>
          <p:cNvSpPr txBox="1"/>
          <p:nvPr/>
        </p:nvSpPr>
        <p:spPr>
          <a:xfrm>
            <a:off x="6470294" y="1600200"/>
            <a:ext cx="491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マスを押す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番号と提出物が交わるマスを押すと ✓。もう一度押すと外れます。赤いマスは締切超過の未提出。</a:t>
            </a:r>
            <a:endParaRPr lang="en-US" sz="1700" dirty="0"/>
          </a:p>
        </p:txBody>
      </p:sp>
      <p:sp>
        <p:nvSpPr>
          <p:cNvPr id="7" name="カード-95"/>
          <p:cNvSpPr/>
          <p:nvPr/>
        </p:nvSpPr>
        <p:spPr>
          <a:xfrm>
            <a:off x="6241694" y="2743200"/>
            <a:ext cx="5371186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説明-96"/>
          <p:cNvSpPr txBox="1"/>
          <p:nvPr/>
        </p:nvSpPr>
        <p:spPr>
          <a:xfrm>
            <a:off x="6470294" y="2880360"/>
            <a:ext cx="491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番号で入力（冊数が多いとき）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提出物を選び、番号を入れて Enter。続けて入力でき、残りの人数も出ます。</a:t>
            </a:r>
            <a:endParaRPr lang="en-US" sz="1700" dirty="0"/>
          </a:p>
        </p:txBody>
      </p:sp>
      <p:sp>
        <p:nvSpPr>
          <p:cNvPr id="9" name="カード-97"/>
          <p:cNvSpPr/>
          <p:nvPr/>
        </p:nvSpPr>
        <p:spPr>
          <a:xfrm>
            <a:off x="6241694" y="4023360"/>
            <a:ext cx="5371186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説明-98"/>
          <p:cNvSpPr txBox="1"/>
          <p:nvPr/>
        </p:nvSpPr>
        <p:spPr>
          <a:xfrm>
            <a:off x="6470294" y="4160520"/>
            <a:ext cx="49139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間違えたら「↶ 取り消し」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直前の操作を元に戻せます。</a:t>
            </a:r>
            <a:endParaRPr lang="en-US" sz="1700" dirty="0"/>
          </a:p>
        </p:txBody>
      </p:sp>
      <p:sp>
        <p:nvSpPr>
          <p:cNvPr id="11" name="カード-99"/>
          <p:cNvSpPr/>
          <p:nvPr/>
        </p:nvSpPr>
        <p:spPr>
          <a:xfrm>
            <a:off x="6241694" y="5074920"/>
            <a:ext cx="5371186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説明-100"/>
          <p:cNvSpPr txBox="1"/>
          <p:nvPr/>
        </p:nvSpPr>
        <p:spPr>
          <a:xfrm>
            <a:off x="6470294" y="5212080"/>
            <a:ext cx="49139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表示を絞る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「完了した提出物を隠す」「未提出のある番号だけ」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回収状況：どこを見ればよいかが分かる</a:t>
            </a:r>
            <a:endParaRPr lang="en-US" sz="3000" dirty="0"/>
          </a:p>
        </p:txBody>
      </p:sp>
      <p:sp>
        <p:nvSpPr>
          <p:cNvPr id="3" name="画面の枠-101"/>
          <p:cNvSpPr/>
          <p:nvPr/>
        </p:nvSpPr>
        <p:spPr>
          <a:xfrm>
            <a:off x="566928" y="1435608"/>
            <a:ext cx="7095744" cy="4218242"/>
          </a:xfrm>
          <a:prstGeom prst="roundRect">
            <a:avLst>
              <a:gd name="adj" fmla="val 1734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102" descr="shots2/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949440" cy="40719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38160" y="1463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カードの色の意味</a:t>
            </a:r>
            <a:endParaRPr lang="en-US" sz="1700" dirty="0"/>
          </a:p>
        </p:txBody>
      </p:sp>
      <p:sp>
        <p:nvSpPr>
          <p:cNvPr id="6" name="色見本-103"/>
          <p:cNvSpPr/>
          <p:nvPr/>
        </p:nvSpPr>
        <p:spPr>
          <a:xfrm>
            <a:off x="8138160" y="2011680"/>
            <a:ext cx="15544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3816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回収中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829800" y="2011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まだ集めている途中</a:t>
            </a:r>
            <a:endParaRPr lang="en-US" sz="1300" dirty="0"/>
          </a:p>
        </p:txBody>
      </p:sp>
      <p:sp>
        <p:nvSpPr>
          <p:cNvPr id="9" name="色見本-104"/>
          <p:cNvSpPr/>
          <p:nvPr/>
        </p:nvSpPr>
        <p:spPr>
          <a:xfrm>
            <a:off x="8138160" y="2651760"/>
            <a:ext cx="155448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0" y="2651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あと5人以下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82980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もう少しで全員</a:t>
            </a:r>
            <a:endParaRPr lang="en-US" sz="1300" dirty="0"/>
          </a:p>
        </p:txBody>
      </p:sp>
      <p:sp>
        <p:nvSpPr>
          <p:cNvPr id="12" name="色見本-105"/>
          <p:cNvSpPr/>
          <p:nvPr/>
        </p:nvSpPr>
        <p:spPr>
          <a:xfrm>
            <a:off x="8138160" y="3291840"/>
            <a:ext cx="155448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38160" y="3291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締切超過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829800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締切後も未提出がいる</a:t>
            </a:r>
            <a:endParaRPr lang="en-US" sz="1300" dirty="0"/>
          </a:p>
        </p:txBody>
      </p:sp>
      <p:sp>
        <p:nvSpPr>
          <p:cNvPr id="15" name="色見本-106"/>
          <p:cNvSpPr/>
          <p:nvPr/>
        </p:nvSpPr>
        <p:spPr>
          <a:xfrm>
            <a:off x="8138160" y="3931920"/>
            <a:ext cx="15544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38160" y="3931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全員提出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82980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回収完了</a:t>
            </a:r>
            <a:endParaRPr lang="en-US" sz="1300" dirty="0"/>
          </a:p>
        </p:txBody>
      </p:sp>
      <p:sp>
        <p:nvSpPr>
          <p:cNvPr id="18" name="カード-107"/>
          <p:cNvSpPr/>
          <p:nvPr/>
        </p:nvSpPr>
        <p:spPr>
          <a:xfrm>
            <a:off x="8138160" y="4663440"/>
            <a:ext cx="3474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475488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今日締切の提出物は一番上に。並べ替え（締切順・未提出が多い順など）、クラスの絞り込み、全員提出を隠すこともできます。カードを押すとチェック入力へ。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声かけビュー：一人に、まとめて伝える</a:t>
            </a:r>
            <a:endParaRPr lang="en-US" sz="3000" dirty="0"/>
          </a:p>
        </p:txBody>
      </p:sp>
      <p:sp>
        <p:nvSpPr>
          <p:cNvPr id="3" name="画面の枠-108"/>
          <p:cNvSpPr/>
          <p:nvPr/>
        </p:nvSpPr>
        <p:spPr>
          <a:xfrm>
            <a:off x="566928" y="1435608"/>
            <a:ext cx="6729984" cy="977028"/>
          </a:xfrm>
          <a:prstGeom prst="roundRect">
            <a:avLst>
              <a:gd name="adj" fmla="val 7487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109" descr="shots2/call_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583680" cy="830724"/>
          </a:xfrm>
          <a:prstGeom prst="rect">
            <a:avLst/>
          </a:prstGeom>
        </p:spPr>
      </p:pic>
      <p:sp>
        <p:nvSpPr>
          <p:cNvPr id="5" name="画面の枠-110"/>
          <p:cNvSpPr/>
          <p:nvPr/>
        </p:nvSpPr>
        <p:spPr>
          <a:xfrm>
            <a:off x="566928" y="2540652"/>
            <a:ext cx="6729984" cy="3251813"/>
          </a:xfrm>
          <a:prstGeom prst="roundRect">
            <a:avLst>
              <a:gd name="adj" fmla="val 2250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画面-111" descr="shots2/c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13804"/>
            <a:ext cx="6583680" cy="3105509"/>
          </a:xfrm>
          <a:prstGeom prst="rect">
            <a:avLst/>
          </a:prstGeom>
        </p:spPr>
      </p:pic>
      <p:sp>
        <p:nvSpPr>
          <p:cNvPr id="7" name="カード-112"/>
          <p:cNvSpPr/>
          <p:nvPr/>
        </p:nvSpPr>
        <p:spPr>
          <a:xfrm>
            <a:off x="7772400" y="1463040"/>
            <a:ext cx="38404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アイコンの円-113"/>
          <p:cNvSpPr/>
          <p:nvPr/>
        </p:nvSpPr>
        <p:spPr>
          <a:xfrm>
            <a:off x="8046720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アイコン-1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178308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046720" y="2286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「9番さん、英作文と単語テスト直しを確認しよう」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772400" y="3383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未提出を生徒ごとにまとめて表示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「コピー」でそのまま連絡に使える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「締切を過ぎた提出物だけ」に絞れる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2件以上重なる番号は「要注意リスト」に</a:t>
            </a:r>
            <a:endParaRPr lang="en-US" sz="1500" dirty="0"/>
          </a:p>
        </p:txBody>
      </p:sp>
      <p:sp>
        <p:nvSpPr>
          <p:cNvPr id="12" name="カード-115"/>
          <p:cNvSpPr/>
          <p:nvPr/>
        </p:nvSpPr>
        <p:spPr>
          <a:xfrm>
            <a:off x="7772400" y="5257800"/>
            <a:ext cx="3840480" cy="868680"/>
          </a:xfrm>
          <a:prstGeom prst="roundRect">
            <a:avLst>
              <a:gd name="adj" fmla="val 12632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955280" y="530352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声かけのヒント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要注意リストは決めつけるためではなく、「どうした？」と聞くきっかけに。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特徴①　メールで知らせる：本人だけに、個別に届ける</a:t>
            </a:r>
            <a:endParaRPr lang="en-US" sz="3000" dirty="0"/>
          </a:p>
        </p:txBody>
      </p:sp>
      <p:sp>
        <p:nvSpPr>
          <p:cNvPr id="3" name="画面の枠-116"/>
          <p:cNvSpPr/>
          <p:nvPr/>
        </p:nvSpPr>
        <p:spPr>
          <a:xfrm>
            <a:off x="566928" y="1435608"/>
            <a:ext cx="6912864" cy="1965615"/>
          </a:xfrm>
          <a:prstGeom prst="roundRect">
            <a:avLst>
              <a:gd name="adj" fmla="val 3722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117" descr="shots2/mail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766560" cy="1819311"/>
          </a:xfrm>
          <a:prstGeom prst="rect">
            <a:avLst/>
          </a:prstGeom>
        </p:spPr>
      </p:pic>
      <p:sp>
        <p:nvSpPr>
          <p:cNvPr id="5" name="画面の枠-118"/>
          <p:cNvSpPr/>
          <p:nvPr/>
        </p:nvSpPr>
        <p:spPr>
          <a:xfrm>
            <a:off x="566928" y="3574959"/>
            <a:ext cx="6912864" cy="1625969"/>
          </a:xfrm>
          <a:prstGeom prst="roundRect">
            <a:avLst>
              <a:gd name="adj" fmla="val 4499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画面-119" descr="shots2/mail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48111"/>
            <a:ext cx="6766560" cy="1479665"/>
          </a:xfrm>
          <a:prstGeom prst="rect">
            <a:avLst/>
          </a:prstGeom>
        </p:spPr>
      </p:pic>
      <p:sp>
        <p:nvSpPr>
          <p:cNvPr id="7" name="番号-120"/>
          <p:cNvSpPr/>
          <p:nvPr/>
        </p:nvSpPr>
        <p:spPr>
          <a:xfrm>
            <a:off x="78638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863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手順-121"/>
          <p:cNvSpPr txBox="1"/>
          <p:nvPr/>
        </p:nvSpPr>
        <p:spPr>
          <a:xfrm>
            <a:off x="8503920" y="1481328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「声かけビュー」の「メールで知らせる」へ</a:t>
            </a:r>
            <a:endParaRPr lang="en-US" sz="1700" dirty="0"/>
          </a:p>
        </p:txBody>
      </p:sp>
      <p:sp>
        <p:nvSpPr>
          <p:cNvPr id="10" name="番号-122"/>
          <p:cNvSpPr/>
          <p:nvPr/>
        </p:nvSpPr>
        <p:spPr>
          <a:xfrm>
            <a:off x="7863840" y="2743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8638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手順-123"/>
          <p:cNvSpPr txBox="1"/>
          <p:nvPr/>
        </p:nvSpPr>
        <p:spPr>
          <a:xfrm>
            <a:off x="8503920" y="2670048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「文面を確認」で内容を見る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件名は自由に変えられます</a:t>
            </a:r>
            <a:endParaRPr lang="en-US" sz="1700" dirty="0"/>
          </a:p>
        </p:txBody>
      </p:sp>
      <p:sp>
        <p:nvSpPr>
          <p:cNvPr id="13" name="番号-124"/>
          <p:cNvSpPr/>
          <p:nvPr/>
        </p:nvSpPr>
        <p:spPr>
          <a:xfrm>
            <a:off x="786384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手順-125"/>
          <p:cNvSpPr txBox="1"/>
          <p:nvPr/>
        </p:nvSpPr>
        <p:spPr>
          <a:xfrm>
            <a:off x="8503920" y="3858768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「メールを送る」を押す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確認画面で、送る相手・送らない人が番号で出ます。送信記録も残ります</a:t>
            </a:r>
            <a:endParaRPr lang="en-US" sz="1700" dirty="0"/>
          </a:p>
        </p:txBody>
      </p:sp>
      <p:sp>
        <p:nvSpPr>
          <p:cNvPr id="16" name="カード-126"/>
          <p:cNvSpPr/>
          <p:nvPr/>
        </p:nvSpPr>
        <p:spPr>
          <a:xfrm>
            <a:off x="7863840" y="5074920"/>
            <a:ext cx="3749040" cy="100584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46720" y="512064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声かけのヒント　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メールは声かけのきっかけ。届いたあとに、顔を見て一言かけましょう。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事情のある生徒への配慮：送らない選択もできる</a:t>
            </a:r>
            <a:endParaRPr lang="en-US" sz="3000" dirty="0"/>
          </a:p>
        </p:txBody>
      </p:sp>
      <p:sp>
        <p:nvSpPr>
          <p:cNvPr id="3" name="画面の枠-127"/>
          <p:cNvSpPr/>
          <p:nvPr/>
        </p:nvSpPr>
        <p:spPr>
          <a:xfrm>
            <a:off x="566928" y="1435608"/>
            <a:ext cx="6608064" cy="4718304"/>
          </a:xfrm>
          <a:prstGeom prst="roundRect">
            <a:avLst>
              <a:gd name="adj" fmla="val 1550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128" descr="shots2/mail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61760" cy="4572000"/>
          </a:xfrm>
          <a:prstGeom prst="rect">
            <a:avLst/>
          </a:prstGeom>
        </p:spPr>
      </p:pic>
      <p:sp>
        <p:nvSpPr>
          <p:cNvPr id="5" name="カード-129"/>
          <p:cNvSpPr/>
          <p:nvPr/>
        </p:nvSpPr>
        <p:spPr>
          <a:xfrm>
            <a:off x="7680960" y="14630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説明-130"/>
          <p:cNvSpPr txBox="1"/>
          <p:nvPr/>
        </p:nvSpPr>
        <p:spPr>
          <a:xfrm>
            <a:off x="7909560" y="160020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今回だけ送らない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「▼ 送る相手を確認・除外」でチェックを外すと、今回の送信だけ外れます。</a:t>
            </a:r>
            <a:endParaRPr lang="en-US" sz="1700" dirty="0"/>
          </a:p>
        </p:txBody>
      </p:sp>
      <p:sp>
        <p:nvSpPr>
          <p:cNvPr id="7" name="カード-131"/>
          <p:cNvSpPr/>
          <p:nvPr/>
        </p:nvSpPr>
        <p:spPr>
          <a:xfrm>
            <a:off x="7680960" y="3063240"/>
            <a:ext cx="393192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説明-132"/>
          <p:cNvSpPr txBox="1"/>
          <p:nvPr/>
        </p:nvSpPr>
        <p:spPr>
          <a:xfrm>
            <a:off x="7909560" y="32004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今後も送らない（メール停止）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「今後も送らない」を押すと「メール停止中」になり、解除するまで送りません。別の端末から送るときも外れたままです。</a:t>
            </a:r>
            <a:endParaRPr lang="en-US" sz="1700" dirty="0"/>
          </a:p>
        </p:txBody>
      </p:sp>
      <p:sp>
        <p:nvSpPr>
          <p:cNvPr id="9" name="カード-133"/>
          <p:cNvSpPr/>
          <p:nvPr/>
        </p:nvSpPr>
        <p:spPr>
          <a:xfrm>
            <a:off x="7680960" y="4983480"/>
            <a:ext cx="3931920" cy="109728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説明-134"/>
          <p:cNvSpPr txBox="1"/>
          <p:nvPr/>
        </p:nvSpPr>
        <p:spPr>
          <a:xfrm>
            <a:off x="7909560" y="51206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手紙も同じ扱い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メール停止中の生徒は、個人別の手紙も最初から印刷しない設定になります。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特徴②　紙の手紙でも渡せる：1人1枚でまとめて印刷</a:t>
            </a:r>
            <a:endParaRPr lang="en-US" sz="3000" dirty="0"/>
          </a:p>
        </p:txBody>
      </p:sp>
      <p:sp>
        <p:nvSpPr>
          <p:cNvPr id="3" name="画面の枠-135"/>
          <p:cNvSpPr/>
          <p:nvPr/>
        </p:nvSpPr>
        <p:spPr>
          <a:xfrm>
            <a:off x="658368" y="1435608"/>
            <a:ext cx="3443518" cy="4809744"/>
          </a:xfrm>
          <a:prstGeom prst="roundRect">
            <a:avLst>
              <a:gd name="adj" fmla="val 2124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136" descr="shots2/le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297214" cy="4663440"/>
          </a:xfrm>
          <a:prstGeom prst="rect">
            <a:avLst/>
          </a:prstGeom>
        </p:spPr>
      </p:pic>
      <p:sp>
        <p:nvSpPr>
          <p:cNvPr id="5" name="画面の枠-137"/>
          <p:cNvSpPr/>
          <p:nvPr/>
        </p:nvSpPr>
        <p:spPr>
          <a:xfrm>
            <a:off x="4504222" y="1435608"/>
            <a:ext cx="7181810" cy="1913477"/>
          </a:xfrm>
          <a:prstGeom prst="roundRect">
            <a:avLst>
              <a:gd name="adj" fmla="val 3823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画面-138" descr="shots2/print_perso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374" y="1508760"/>
            <a:ext cx="7035506" cy="1767173"/>
          </a:xfrm>
          <a:prstGeom prst="rect">
            <a:avLst/>
          </a:prstGeom>
        </p:spPr>
      </p:pic>
      <p:sp>
        <p:nvSpPr>
          <p:cNvPr id="7" name="番号-139"/>
          <p:cNvSpPr/>
          <p:nvPr/>
        </p:nvSpPr>
        <p:spPr>
          <a:xfrm>
            <a:off x="4577374" y="34290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577374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171734" y="3383280"/>
            <a:ext cx="64411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「印刷プレビュー」→「個人別の手紙」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声かけビューの「手紙を印刷」からも開けます</a:t>
            </a:r>
            <a:endParaRPr lang="en-US" sz="1500" dirty="0"/>
          </a:p>
        </p:txBody>
      </p:sp>
      <p:sp>
        <p:nvSpPr>
          <p:cNvPr id="10" name="番号-140"/>
          <p:cNvSpPr/>
          <p:nvPr/>
        </p:nvSpPr>
        <p:spPr>
          <a:xfrm>
            <a:off x="4577374" y="432511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577374" y="4325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171734" y="4279392"/>
            <a:ext cx="64411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用紙を選ぶ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「1枚に1人（手紙）」または「1枚に4人（切って渡す）」</a:t>
            </a:r>
            <a:endParaRPr lang="en-US" sz="1500" dirty="0"/>
          </a:p>
        </p:txBody>
      </p:sp>
      <p:sp>
        <p:nvSpPr>
          <p:cNvPr id="13" name="番号-141"/>
          <p:cNvSpPr/>
          <p:nvPr/>
        </p:nvSpPr>
        <p:spPr>
          <a:xfrm>
            <a:off x="4577374" y="522122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7374" y="5221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171734" y="5175504"/>
            <a:ext cx="64411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対象を絞れる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全員／メール未登録の生徒だけ／1人だけ。メール停止中は除く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クラス別の一覧・白紙のチェック表</a:t>
            </a:r>
            <a:endParaRPr lang="en-US" sz="3000" dirty="0"/>
          </a:p>
        </p:txBody>
      </p:sp>
      <p:sp>
        <p:nvSpPr>
          <p:cNvPr id="3" name="画面の枠-142"/>
          <p:cNvSpPr/>
          <p:nvPr/>
        </p:nvSpPr>
        <p:spPr>
          <a:xfrm>
            <a:off x="658368" y="1435608"/>
            <a:ext cx="3438144" cy="4802143"/>
          </a:xfrm>
          <a:prstGeom prst="roundRect">
            <a:avLst>
              <a:gd name="adj" fmla="val 2128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143" descr="shots2/class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291840" cy="4655839"/>
          </a:xfrm>
          <a:prstGeom prst="rect">
            <a:avLst/>
          </a:prstGeom>
        </p:spPr>
      </p:pic>
      <p:sp>
        <p:nvSpPr>
          <p:cNvPr id="5" name="画面の枠-144"/>
          <p:cNvSpPr/>
          <p:nvPr/>
        </p:nvSpPr>
        <p:spPr>
          <a:xfrm>
            <a:off x="4407408" y="1435608"/>
            <a:ext cx="3438144" cy="4802143"/>
          </a:xfrm>
          <a:prstGeom prst="roundRect">
            <a:avLst>
              <a:gd name="adj" fmla="val 2128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画面-145" descr="shots2/bla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508760"/>
            <a:ext cx="3291840" cy="4655839"/>
          </a:xfrm>
          <a:prstGeom prst="rect">
            <a:avLst/>
          </a:prstGeom>
        </p:spPr>
      </p:pic>
      <p:sp>
        <p:nvSpPr>
          <p:cNvPr id="7" name="カード-146"/>
          <p:cNvSpPr/>
          <p:nvPr/>
        </p:nvSpPr>
        <p:spPr>
          <a:xfrm>
            <a:off x="8321040" y="1463040"/>
            <a:ext cx="32918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説明-147"/>
          <p:cNvSpPr txBox="1"/>
          <p:nvPr/>
        </p:nvSpPr>
        <p:spPr>
          <a:xfrm>
            <a:off x="8549640" y="16002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クラス別（掲示用）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クラス全体の提出状況の一覧。掲示する場合は「氏名を表示」をオフのままに。</a:t>
            </a:r>
            <a:endParaRPr lang="en-US" sz="1700" dirty="0"/>
          </a:p>
        </p:txBody>
      </p:sp>
      <p:sp>
        <p:nvSpPr>
          <p:cNvPr id="9" name="カード-148"/>
          <p:cNvSpPr/>
          <p:nvPr/>
        </p:nvSpPr>
        <p:spPr>
          <a:xfrm>
            <a:off x="8321040" y="3108960"/>
            <a:ext cx="3291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説明-149"/>
          <p:cNvSpPr txBox="1"/>
          <p:nvPr/>
        </p:nvSpPr>
        <p:spPr>
          <a:xfrm>
            <a:off x="8549640" y="32461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白紙のチェック表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手書きで確認するための表。列の数と表題を変えられます。</a:t>
            </a:r>
            <a:endParaRPr lang="en-US" sz="1700" dirty="0"/>
          </a:p>
        </p:txBody>
      </p:sp>
      <p:sp>
        <p:nvSpPr>
          <p:cNvPr id="11" name="カード-150"/>
          <p:cNvSpPr/>
          <p:nvPr/>
        </p:nvSpPr>
        <p:spPr>
          <a:xfrm>
            <a:off x="8321040" y="461772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説明-151"/>
          <p:cNvSpPr txBox="1"/>
          <p:nvPr/>
        </p:nvSpPr>
        <p:spPr>
          <a:xfrm>
            <a:off x="8549640" y="47548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PDFにも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印刷画面の送信先で「PDFに保存」を選びます。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特徴③　生徒が自分で確かめられる：Classroomに掲示</a:t>
            </a:r>
            <a:endParaRPr lang="en-US" sz="3000" dirty="0"/>
          </a:p>
        </p:txBody>
      </p:sp>
      <p:sp>
        <p:nvSpPr>
          <p:cNvPr id="3" name="画面の枠-152"/>
          <p:cNvSpPr/>
          <p:nvPr/>
        </p:nvSpPr>
        <p:spPr>
          <a:xfrm>
            <a:off x="566928" y="1435608"/>
            <a:ext cx="6912864" cy="2061368"/>
          </a:xfrm>
          <a:prstGeom prst="roundRect">
            <a:avLst>
              <a:gd name="adj" fmla="val 3549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153" descr="shots2/board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766560" cy="1915064"/>
          </a:xfrm>
          <a:prstGeom prst="rect">
            <a:avLst/>
          </a:prstGeom>
        </p:spPr>
      </p:pic>
      <p:sp>
        <p:nvSpPr>
          <p:cNvPr id="5" name="番号-154"/>
          <p:cNvSpPr/>
          <p:nvPr/>
        </p:nvSpPr>
        <p:spPr>
          <a:xfrm>
            <a:off x="78638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手順-155"/>
          <p:cNvSpPr txBox="1"/>
          <p:nvPr/>
        </p:nvSpPr>
        <p:spPr>
          <a:xfrm>
            <a:off x="8503920" y="1481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「掲示用リンクを作る」を押す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「印刷プレビュー」の「Classroomに掲示」で、クラスごとに</a:t>
            </a:r>
            <a:endParaRPr lang="en-US" sz="1700" dirty="0"/>
          </a:p>
        </p:txBody>
      </p:sp>
      <p:sp>
        <p:nvSpPr>
          <p:cNvPr id="8" name="番号-156"/>
          <p:cNvSpPr/>
          <p:nvPr/>
        </p:nvSpPr>
        <p:spPr>
          <a:xfrm>
            <a:off x="786384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手順-157"/>
          <p:cNvSpPr txBox="1"/>
          <p:nvPr/>
        </p:nvSpPr>
        <p:spPr>
          <a:xfrm>
            <a:off x="8503920" y="2624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「Classroomで共有」を押す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リンク付きの投稿画面が開きます（「リンクをコピー」も可）</a:t>
            </a:r>
            <a:endParaRPr lang="en-US" sz="1700" dirty="0"/>
          </a:p>
        </p:txBody>
      </p:sp>
      <p:sp>
        <p:nvSpPr>
          <p:cNvPr id="11" name="番号-158"/>
          <p:cNvSpPr/>
          <p:nvPr/>
        </p:nvSpPr>
        <p:spPr>
          <a:xfrm>
            <a:off x="78638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手順-159"/>
          <p:cNvSpPr txBox="1"/>
          <p:nvPr/>
        </p:nvSpPr>
        <p:spPr>
          <a:xfrm>
            <a:off x="8503920" y="3767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あとはいつもどおりチェック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掲示用ページにすぐ反映。貼り直しは不要</a:t>
            </a:r>
            <a:endParaRPr lang="en-US" sz="1700" dirty="0"/>
          </a:p>
        </p:txBody>
      </p:sp>
      <p:sp>
        <p:nvSpPr>
          <p:cNvPr id="14" name="番号-160"/>
          <p:cNvSpPr/>
          <p:nvPr/>
        </p:nvSpPr>
        <p:spPr>
          <a:xfrm>
            <a:off x="7863840" y="4983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手順-161"/>
          <p:cNvSpPr txBox="1"/>
          <p:nvPr/>
        </p:nvSpPr>
        <p:spPr>
          <a:xfrm>
            <a:off x="8503920" y="4910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「公開をやめる」で停止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いつでも止められます。リンクは開けなくなります</a:t>
            </a:r>
            <a:endParaRPr lang="en-US" sz="1700" dirty="0"/>
          </a:p>
        </p:txBody>
      </p:sp>
      <p:sp>
        <p:nvSpPr>
          <p:cNvPr id="17" name="カード-162"/>
          <p:cNvSpPr/>
          <p:nvPr/>
        </p:nvSpPr>
        <p:spPr>
          <a:xfrm>
            <a:off x="640080" y="4343400"/>
            <a:ext cx="6766560" cy="173736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48056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生徒が自分で気づき、自分から動けるように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先生がチェックすると、生徒の見ている画面にもすぐ反映されます。印刷して貼り直す必要もありません。「サンプルデータを入れる」「初期化」「バックアップから復元」をすると、公開は自動で止まりま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生徒から見た掲示用ページ（イメージ）：番号と ✓ だけ</a:t>
            </a:r>
            <a:endParaRPr lang="en-US" sz="3000" dirty="0"/>
          </a:p>
        </p:txBody>
      </p:sp>
      <p:sp>
        <p:nvSpPr>
          <p:cNvPr id="3" name="画面の枠-163"/>
          <p:cNvSpPr/>
          <p:nvPr/>
        </p:nvSpPr>
        <p:spPr>
          <a:xfrm>
            <a:off x="658368" y="1435608"/>
            <a:ext cx="4391733" cy="4718304"/>
          </a:xfrm>
          <a:prstGeom prst="roundRect">
            <a:avLst>
              <a:gd name="adj" fmla="val 1666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164" descr="shots2/board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4245429" cy="4572000"/>
          </a:xfrm>
          <a:prstGeom prst="rect">
            <a:avLst/>
          </a:prstGeom>
        </p:spPr>
      </p:pic>
      <p:sp>
        <p:nvSpPr>
          <p:cNvPr id="5" name="アイコンの円-165"/>
          <p:cNvSpPr/>
          <p:nvPr/>
        </p:nvSpPr>
        <p:spPr>
          <a:xfrm>
            <a:off x="630936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アイコン-16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274320" cy="274320"/>
          </a:xfrm>
          <a:prstGeom prst="rect">
            <a:avLst/>
          </a:prstGeom>
        </p:spPr>
      </p:pic>
      <p:sp>
        <p:nvSpPr>
          <p:cNvPr id="7" name="説明-167"/>
          <p:cNvSpPr txBox="1"/>
          <p:nvPr/>
        </p:nvSpPr>
        <p:spPr>
          <a:xfrm>
            <a:off x="7086600" y="144475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見るだけ・編集できない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学校内のリンクを知っている全員が「閲覧者」です</a:t>
            </a:r>
            <a:endParaRPr lang="en-US" sz="1600" dirty="0"/>
          </a:p>
        </p:txBody>
      </p:sp>
      <p:sp>
        <p:nvSpPr>
          <p:cNvPr id="8" name="アイコンの円-168"/>
          <p:cNvSpPr/>
          <p:nvPr/>
        </p:nvSpPr>
        <p:spPr>
          <a:xfrm>
            <a:off x="6309360" y="2423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アイコン-16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560320"/>
            <a:ext cx="274320" cy="274320"/>
          </a:xfrm>
          <a:prstGeom prst="rect">
            <a:avLst/>
          </a:prstGeom>
        </p:spPr>
      </p:pic>
      <p:sp>
        <p:nvSpPr>
          <p:cNvPr id="10" name="説明-170"/>
          <p:cNvSpPr txBox="1"/>
          <p:nvPr/>
        </p:nvSpPr>
        <p:spPr>
          <a:xfrm>
            <a:off x="7086600" y="240487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出席番号と ✓ だけ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名前やメールアドレスは表示されません</a:t>
            </a:r>
            <a:endParaRPr lang="en-US" sz="1600" dirty="0"/>
          </a:p>
        </p:txBody>
      </p:sp>
      <p:sp>
        <p:nvSpPr>
          <p:cNvPr id="11" name="アイコンの円-171"/>
          <p:cNvSpPr/>
          <p:nvPr/>
        </p:nvSpPr>
        <p:spPr>
          <a:xfrm>
            <a:off x="6309360" y="33832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アイコン-17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520440"/>
            <a:ext cx="274320" cy="274320"/>
          </a:xfrm>
          <a:prstGeom prst="rect">
            <a:avLst/>
          </a:prstGeom>
        </p:spPr>
      </p:pic>
      <p:sp>
        <p:nvSpPr>
          <p:cNvPr id="13" name="説明-173"/>
          <p:cNvSpPr txBox="1"/>
          <p:nvPr/>
        </p:nvSpPr>
        <p:spPr>
          <a:xfrm>
            <a:off x="7086600" y="336499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自動で最新に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先生がチェックすると、開いている画面も更新されます</a:t>
            </a:r>
            <a:endParaRPr lang="en-US" sz="1600" dirty="0"/>
          </a:p>
        </p:txBody>
      </p:sp>
      <p:sp>
        <p:nvSpPr>
          <p:cNvPr id="14" name="アイコンの円-174"/>
          <p:cNvSpPr/>
          <p:nvPr/>
        </p:nvSpPr>
        <p:spPr>
          <a:xfrm>
            <a:off x="6309360" y="43434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アイコン-17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480560"/>
            <a:ext cx="274320" cy="274320"/>
          </a:xfrm>
          <a:prstGeom prst="rect">
            <a:avLst/>
          </a:prstGeom>
        </p:spPr>
      </p:pic>
      <p:sp>
        <p:nvSpPr>
          <p:cNvPr id="16" name="説明-176"/>
          <p:cNvSpPr txBox="1"/>
          <p:nvPr/>
        </p:nvSpPr>
        <p:spPr>
          <a:xfrm>
            <a:off x="7086600" y="432511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クラスごとに別ページ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ほかのクラスの状況は見えません</a:t>
            </a:r>
            <a:endParaRPr lang="en-US" sz="1600" dirty="0"/>
          </a:p>
        </p:txBody>
      </p:sp>
      <p:sp>
        <p:nvSpPr>
          <p:cNvPr id="17" name="カード-177"/>
          <p:cNvSpPr/>
          <p:nvPr/>
        </p:nvSpPr>
        <p:spPr>
          <a:xfrm>
            <a:off x="6309360" y="5349240"/>
            <a:ext cx="5303520" cy="777240"/>
          </a:xfrm>
          <a:prstGeom prst="roundRect">
            <a:avLst>
              <a:gd name="adj" fmla="val 1411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492240" y="539496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声かけのヒント　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掲示は責めるためではなく、生徒が自分で確かめるためのもの。名前は出しません。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複数の端末で使う・データを守る</a:t>
            </a:r>
            <a:endParaRPr lang="en-US" sz="3000" dirty="0"/>
          </a:p>
        </p:txBody>
      </p:sp>
      <p:sp>
        <p:nvSpPr>
          <p:cNvPr id="3" name="画面の枠-178"/>
          <p:cNvSpPr/>
          <p:nvPr/>
        </p:nvSpPr>
        <p:spPr>
          <a:xfrm>
            <a:off x="566928" y="1435608"/>
            <a:ext cx="6912864" cy="1837944"/>
          </a:xfrm>
          <a:prstGeom prst="roundRect">
            <a:avLst>
              <a:gd name="adj" fmla="val 3980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179" descr="shots2/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766560" cy="1691640"/>
          </a:xfrm>
          <a:prstGeom prst="rect">
            <a:avLst/>
          </a:prstGeom>
        </p:spPr>
      </p:pic>
      <p:sp>
        <p:nvSpPr>
          <p:cNvPr id="5" name="カード-180"/>
          <p:cNvSpPr/>
          <p:nvPr/>
        </p:nvSpPr>
        <p:spPr>
          <a:xfrm>
            <a:off x="7772400" y="1463040"/>
            <a:ext cx="38404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説明-181"/>
          <p:cNvSpPr txBox="1"/>
          <p:nvPr/>
        </p:nvSpPr>
        <p:spPr>
          <a:xfrm>
            <a:off x="8001000" y="160020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↻ 最新に更新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ほかの端末で入力した内容を読み込みます。しばらく別の画面にいて戻ったときは自動で読み込みます。</a:t>
            </a:r>
            <a:endParaRPr lang="en-US" sz="1700" dirty="0"/>
          </a:p>
        </p:txBody>
      </p:sp>
      <p:sp>
        <p:nvSpPr>
          <p:cNvPr id="7" name="カード-182"/>
          <p:cNvSpPr/>
          <p:nvPr/>
        </p:nvSpPr>
        <p:spPr>
          <a:xfrm>
            <a:off x="7772400" y="3063240"/>
            <a:ext cx="38404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説明-183"/>
          <p:cNvSpPr txBox="1"/>
          <p:nvPr/>
        </p:nvSpPr>
        <p:spPr>
          <a:xfrm>
            <a:off x="8001000" y="320040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使用中のアカウント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「提出物」→「データ」に表示。データとメールの送り主はこのアカウントです。</a:t>
            </a:r>
            <a:endParaRPr lang="en-US" sz="1700" dirty="0"/>
          </a:p>
        </p:txBody>
      </p:sp>
      <p:sp>
        <p:nvSpPr>
          <p:cNvPr id="9" name="カード-184"/>
          <p:cNvSpPr/>
          <p:nvPr/>
        </p:nvSpPr>
        <p:spPr>
          <a:xfrm>
            <a:off x="7772400" y="4572000"/>
            <a:ext cx="38404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説明-185"/>
          <p:cNvSpPr txBox="1"/>
          <p:nvPr/>
        </p:nvSpPr>
        <p:spPr>
          <a:xfrm>
            <a:off x="8001000" y="470916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バックアップと復元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「バックアップを保存」でファイルに保存、「バックアップから復元」で戻せます。</a:t>
            </a:r>
            <a:endParaRPr lang="en-US" sz="1700" dirty="0"/>
          </a:p>
        </p:txBody>
      </p:sp>
      <p:sp>
        <p:nvSpPr>
          <p:cNvPr id="11" name="カード-186"/>
          <p:cNvSpPr/>
          <p:nvPr/>
        </p:nvSpPr>
        <p:spPr>
          <a:xfrm>
            <a:off x="640080" y="3657600"/>
            <a:ext cx="676656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384048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同じGoogleアカウントなら、パソコン・iPad・Chromebookのどれからでも同じデータです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データは自分のGoogleドライブの「提出物チェッカー データ」に保存されます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「サンプルデータを入れる」「初期化」は今のデータを消すので注意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よくある質問</a:t>
            </a:r>
            <a:endParaRPr lang="en-US" sz="3000" dirty="0"/>
          </a:p>
        </p:txBody>
      </p:sp>
      <p:sp>
        <p:nvSpPr>
          <p:cNvPr id="3" name="カード-187"/>
          <p:cNvSpPr/>
          <p:nvPr/>
        </p:nvSpPr>
        <p:spPr>
          <a:xfrm>
            <a:off x="548640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" name="アイコンの円-188"/>
          <p:cNvSpPr/>
          <p:nvPr/>
        </p:nvSpPr>
        <p:spPr>
          <a:xfrm>
            <a:off x="777240" y="16916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アイコン-18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181737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メールだけで十分？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いいえ。メールや手紙はきっかけです。届いたあとに、顔を見て一言かけてください。</a:t>
            </a:r>
            <a:endParaRPr lang="en-US" sz="1300" dirty="0"/>
          </a:p>
        </p:txBody>
      </p:sp>
      <p:sp>
        <p:nvSpPr>
          <p:cNvPr id="8" name="カード-190"/>
          <p:cNvSpPr/>
          <p:nvPr/>
        </p:nvSpPr>
        <p:spPr>
          <a:xfrm>
            <a:off x="4297680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アイコンの円-191"/>
          <p:cNvSpPr/>
          <p:nvPr/>
        </p:nvSpPr>
        <p:spPr>
          <a:xfrm>
            <a:off x="4526280" y="1691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アイコン-19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10" y="181737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6636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URLを開くとエラーになる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377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複数のアカウントでログインしていると起きます。シークレットウィンドウで、学校のアカウントだけで開いてください。</a:t>
            </a:r>
            <a:endParaRPr lang="en-US" sz="1300" dirty="0"/>
          </a:p>
        </p:txBody>
      </p:sp>
      <p:sp>
        <p:nvSpPr>
          <p:cNvPr id="13" name="カード-193"/>
          <p:cNvSpPr/>
          <p:nvPr/>
        </p:nvSpPr>
        <p:spPr>
          <a:xfrm>
            <a:off x="8046720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アイコンの円-194"/>
          <p:cNvSpPr/>
          <p:nvPr/>
        </p:nvSpPr>
        <p:spPr>
          <a:xfrm>
            <a:off x="8275320" y="1691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アイコン-19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050" y="181737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91540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ほかの先生にデータは見える？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377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見えません。データは先生ごとに、自分のGoogleドライブに保存されます。</a:t>
            </a:r>
            <a:endParaRPr lang="en-US" sz="1300" dirty="0"/>
          </a:p>
        </p:txBody>
      </p:sp>
      <p:sp>
        <p:nvSpPr>
          <p:cNvPr id="18" name="カード-196"/>
          <p:cNvSpPr/>
          <p:nvPr/>
        </p:nvSpPr>
        <p:spPr>
          <a:xfrm>
            <a:off x="548640" y="384048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アイコンの円-197"/>
          <p:cNvSpPr/>
          <p:nvPr/>
        </p:nvSpPr>
        <p:spPr>
          <a:xfrm>
            <a:off x="777240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アイコン-19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970" y="41948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40690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生徒の名前は必要？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不要です。出席番号だけで全部の機能が使えます。入れるかは学校のルールに合わせてください。</a:t>
            </a:r>
            <a:endParaRPr lang="en-US" sz="1300" dirty="0"/>
          </a:p>
        </p:txBody>
      </p:sp>
      <p:sp>
        <p:nvSpPr>
          <p:cNvPr id="23" name="カード-199"/>
          <p:cNvSpPr/>
          <p:nvPr/>
        </p:nvSpPr>
        <p:spPr>
          <a:xfrm>
            <a:off x="4297680" y="384048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アイコンの円-200"/>
          <p:cNvSpPr/>
          <p:nvPr/>
        </p:nvSpPr>
        <p:spPr>
          <a:xfrm>
            <a:off x="4526280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アイコン-20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2010" y="419481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166360" y="40690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メールが届かない生徒は？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手紙の印刷で「メール未登録の生徒だけ」を選べば、紙で補えます。</a:t>
            </a:r>
            <a:endParaRPr lang="en-US" sz="1300" dirty="0"/>
          </a:p>
        </p:txBody>
      </p:sp>
      <p:sp>
        <p:nvSpPr>
          <p:cNvPr id="28" name="カード-202"/>
          <p:cNvSpPr/>
          <p:nvPr/>
        </p:nvSpPr>
        <p:spPr>
          <a:xfrm>
            <a:off x="8046720" y="384048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アイコンの円-203"/>
          <p:cNvSpPr/>
          <p:nvPr/>
        </p:nvSpPr>
        <p:spPr>
          <a:xfrm>
            <a:off x="8275320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アイコン-20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1050" y="419481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915400" y="40690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掲示で名前が出ない？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出ません。掲示用ページは出席番号と ✓ だけで、生徒は見るだけです。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（管理する先生向け）バージョンアップの手順</a:t>
            </a:r>
            <a:endParaRPr lang="en-US" sz="3000" dirty="0"/>
          </a:p>
        </p:txBody>
      </p:sp>
      <p:sp>
        <p:nvSpPr>
          <p:cNvPr id="3" name="番号-205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手順-206"/>
          <p:cNvSpPr txBox="1"/>
          <p:nvPr/>
        </p:nvSpPr>
        <p:spPr>
          <a:xfrm>
            <a:off x="1188720" y="1481328"/>
            <a:ext cx="5760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最新のプログラムをコピー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GitHubの raw ページで Ctrl+A → Ctrl+C</a:t>
            </a:r>
            <a:endParaRPr lang="en-US" sz="1700" dirty="0"/>
          </a:p>
        </p:txBody>
      </p:sp>
      <p:sp>
        <p:nvSpPr>
          <p:cNvPr id="6" name="番号-207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手順-208"/>
          <p:cNvSpPr txBox="1"/>
          <p:nvPr/>
        </p:nvSpPr>
        <p:spPr>
          <a:xfrm>
            <a:off x="1188720" y="2624328"/>
            <a:ext cx="5760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Apps Scriptに貼り替えて保存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学校のアカウントだけでログインした状態で、Ctrl+A → 貼り付け</a:t>
            </a:r>
            <a:endParaRPr lang="en-US" sz="1700" dirty="0"/>
          </a:p>
        </p:txBody>
      </p:sp>
      <p:sp>
        <p:nvSpPr>
          <p:cNvPr id="9" name="番号-209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手順-210"/>
          <p:cNvSpPr txBox="1"/>
          <p:nvPr/>
        </p:nvSpPr>
        <p:spPr>
          <a:xfrm>
            <a:off x="1188720" y="3767328"/>
            <a:ext cx="5760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許可が増えたときは authorize を実行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関数の選択で authorize →「▷ 実行」→ 許可</a:t>
            </a:r>
            <a:endParaRPr lang="en-US" sz="1700" dirty="0"/>
          </a:p>
        </p:txBody>
      </p:sp>
      <p:sp>
        <p:nvSpPr>
          <p:cNvPr id="12" name="番号-211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手順-212"/>
          <p:cNvSpPr txBox="1"/>
          <p:nvPr/>
        </p:nvSpPr>
        <p:spPr>
          <a:xfrm>
            <a:off x="1188720" y="4910328"/>
            <a:ext cx="5760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「デプロイを管理」で「新バージョン」に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鉛筆マーク（編集）→ バージョン「新バージョン」→「デプロイ」</a:t>
            </a:r>
            <a:endParaRPr lang="en-US" sz="1700" dirty="0"/>
          </a:p>
        </p:txBody>
      </p:sp>
      <p:sp>
        <p:nvSpPr>
          <p:cNvPr id="15" name="カード-213"/>
          <p:cNvSpPr/>
          <p:nvPr/>
        </p:nvSpPr>
        <p:spPr>
          <a:xfrm>
            <a:off x="7315200" y="1463040"/>
            <a:ext cx="4297680" cy="155448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説明-214"/>
          <p:cNvSpPr txBox="1"/>
          <p:nvPr/>
        </p:nvSpPr>
        <p:spPr>
          <a:xfrm>
            <a:off x="7543800" y="160020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「新しいデプロイ」は選ばない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別のURLができてしまい、ほかの先生が使っている元のURLは古いままになります。</a:t>
            </a:r>
            <a:endParaRPr lang="en-US" sz="1700" dirty="0"/>
          </a:p>
        </p:txBody>
      </p:sp>
      <p:sp>
        <p:nvSpPr>
          <p:cNvPr id="17" name="カード-215"/>
          <p:cNvSpPr/>
          <p:nvPr/>
        </p:nvSpPr>
        <p:spPr>
          <a:xfrm>
            <a:off x="7315200" y="3200400"/>
            <a:ext cx="429768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説明-216"/>
          <p:cNvSpPr txBox="1"/>
          <p:nvPr/>
        </p:nvSpPr>
        <p:spPr>
          <a:xfrm>
            <a:off x="7543800" y="333756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ほかの先生は開き直すだけ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ページを再読み込みすれば新しいバージョンになります。許可の画面が出たら「許可」を押してもらいます。</a:t>
            </a:r>
            <a:endParaRPr lang="en-US" sz="1700" dirty="0"/>
          </a:p>
        </p:txBody>
      </p:sp>
      <p:sp>
        <p:nvSpPr>
          <p:cNvPr id="19" name="カード-217"/>
          <p:cNvSpPr/>
          <p:nvPr/>
        </p:nvSpPr>
        <p:spPr>
          <a:xfrm>
            <a:off x="7315200" y="4937760"/>
            <a:ext cx="42976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説明-218"/>
          <p:cNvSpPr txBox="1"/>
          <p:nvPr/>
        </p:nvSpPr>
        <p:spPr>
          <a:xfrm>
            <a:off x="7543800" y="50749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データは消えません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各先生のクラス・記録・メールアドレスは、そのまま残ります。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声をかけるのは、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先生です。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アプリは、見落とさないための道具。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探す・知らせる・見えるようにするのはアプリに、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生徒と話すことは先生に。</a:t>
            </a:r>
            <a:endParaRPr lang="en-US" sz="1700" dirty="0"/>
          </a:p>
        </p:txBody>
      </p:sp>
      <p:sp>
        <p:nvSpPr>
          <p:cNvPr id="4" name="アイコンの円-219"/>
          <p:cNvSpPr/>
          <p:nvPr/>
        </p:nvSpPr>
        <p:spPr>
          <a:xfrm>
            <a:off x="7223760" y="12801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アイコン-22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0" y="12344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見つける</a:t>
            </a:r>
            <a:endParaRPr lang="en-US" sz="2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アプリ</a:t>
            </a:r>
            <a:endParaRPr lang="en-US" sz="2400" dirty="0"/>
          </a:p>
        </p:txBody>
      </p:sp>
      <p:sp>
        <p:nvSpPr>
          <p:cNvPr id="7" name="アイコンの円-221"/>
          <p:cNvSpPr/>
          <p:nvPr/>
        </p:nvSpPr>
        <p:spPr>
          <a:xfrm>
            <a:off x="7223760" y="269748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アイコン-22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9260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412480" y="26517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知らせる</a:t>
            </a:r>
            <a:endParaRPr lang="en-US" sz="2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メール・手紙・掲示</a:t>
            </a:r>
            <a:endParaRPr lang="en-US" sz="2400" dirty="0"/>
          </a:p>
        </p:txBody>
      </p:sp>
      <p:sp>
        <p:nvSpPr>
          <p:cNvPr id="10" name="アイコンの円-223"/>
          <p:cNvSpPr/>
          <p:nvPr/>
        </p:nvSpPr>
        <p:spPr>
          <a:xfrm>
            <a:off x="7223760" y="411480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アイコン-2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43434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412480" y="4069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話す</a:t>
            </a:r>
            <a:endParaRPr lang="en-US" sz="2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先生と生徒</a:t>
            </a:r>
            <a:endParaRPr lang="en-US" sz="24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まずは提出物を一つ登録してみましょう。困ったときは、URLを配布した先生に声をかけてください。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提出物チェッカー">
  <a:themeElements>
    <a:clrScheme name="提出物チェッカー">
      <a:dk1>
        <a:srgbClr val="1F2937"/>
      </a:dk1>
      <a:lt1>
        <a:srgbClr val="FFFFFF"/>
      </a:lt1>
      <a:dk2>
        <a:srgbClr val="134E4A"/>
      </a:dk2>
      <a:lt2>
        <a:srgbClr val="ECF5F3"/>
      </a:lt2>
      <a:accent1>
        <a:srgbClr val="0F766E"/>
      </a:accent1>
      <a:accent2>
        <a:srgbClr val="D97706"/>
      </a:accent2>
      <a:accent3>
        <a:srgbClr val="2563EB"/>
      </a:accent3>
      <a:accent4>
        <a:srgbClr val="C62828"/>
      </a:accent4>
      <a:accent5>
        <a:srgbClr val="15803D"/>
      </a:accent5>
      <a:accent6>
        <a:srgbClr val="64748B"/>
      </a:accent6>
      <a:hlink>
        <a:srgbClr val="0F766E"/>
      </a:hlink>
      <a:folHlink>
        <a:srgbClr val="134E4A"/>
      </a:folHlink>
    </a:clrScheme>
    <a:fontScheme name="提出物チェッカー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提出物チェッカー 使い方ガイド</dc:title>
  <dc:subject>PptxGenJS Presentation</dc:subject>
  <dc:creator>提出物チェッカー</dc:creator>
  <cp:lastModifiedBy>提出物チェッカー</cp:lastModifiedBy>
  <cp:revision>1</cp:revision>
  <dcterms:created xsi:type="dcterms:W3CDTF">2026-10-27T01:49:26Z</dcterms:created>
  <dcterms:modified xsi:type="dcterms:W3CDTF">2026-10-27T01:49:26Z</dcterms:modified>
</cp:coreProperties>
</file>